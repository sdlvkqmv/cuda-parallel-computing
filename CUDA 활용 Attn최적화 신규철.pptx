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9" r:id="rId3"/>
    <p:sldId id="307" r:id="rId4"/>
    <p:sldId id="373" r:id="rId5"/>
    <p:sldId id="400" r:id="rId6"/>
    <p:sldId id="401" r:id="rId7"/>
    <p:sldId id="402" r:id="rId8"/>
    <p:sldId id="404" r:id="rId9"/>
    <p:sldId id="406" r:id="rId10"/>
    <p:sldId id="405" r:id="rId11"/>
    <p:sldId id="407" r:id="rId12"/>
    <p:sldId id="408" r:id="rId13"/>
    <p:sldId id="409" r:id="rId14"/>
    <p:sldId id="410" r:id="rId15"/>
    <p:sldId id="411" r:id="rId16"/>
    <p:sldId id="412" r:id="rId17"/>
    <p:sldId id="413" r:id="rId18"/>
  </p:sldIdLst>
  <p:sldSz cx="24384000" cy="13716000"/>
  <p:notesSz cx="9144000" cy="6858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8F26F3-C2DE-FCB7-1A4A-6F5D67D31C76}" name="신규철" initials="데신" userId="S::jgshin22@m365.hanyang.ac.kr::542a9958-80f2-45d5-88b8-2d88e8646ce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CD78E"/>
    <a:srgbClr val="91ACE0"/>
    <a:srgbClr val="EF949E"/>
    <a:srgbClr val="E2F0D9"/>
    <a:srgbClr val="FFFFFF"/>
    <a:srgbClr val="E5E5E5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80" autoAdjust="0"/>
    <p:restoredTop sz="63235" autoAdjust="0"/>
  </p:normalViewPr>
  <p:slideViewPr>
    <p:cSldViewPr snapToGrid="0">
      <p:cViewPr>
        <p:scale>
          <a:sx n="33" d="100"/>
          <a:sy n="33" d="100"/>
        </p:scale>
        <p:origin x="1368" y="1158"/>
      </p:cViewPr>
      <p:guideLst/>
    </p:cSldViewPr>
  </p:slideViewPr>
  <p:outlineViewPr>
    <p:cViewPr>
      <p:scale>
        <a:sx n="33" d="100"/>
        <a:sy n="33" d="100"/>
      </p:scale>
      <p:origin x="0" y="-49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7430"/>
    </p:cViewPr>
  </p:sorterViewPr>
  <p:notesViewPr>
    <p:cSldViewPr snapToGrid="0">
      <p:cViewPr varScale="1">
        <p:scale>
          <a:sx n="66" d="100"/>
          <a:sy n="66" d="100"/>
        </p:scale>
        <p:origin x="2853" y="6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50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025CDE7-16DD-3697-CB80-AAFC1EF099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7104D3-E980-5C8D-5744-1F374A4573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6BA7F-A5F6-4C0D-9A2C-1CCDBE308803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167AD9-112B-8CEE-1EE8-52893720EFC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37EF84-B4FA-E3C7-07BE-296C62E7C3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4CCEB-4487-4210-96DF-2B1D76B4B5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4511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3528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411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149E0-F302-5E93-43F3-5D4AF129B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12B3C2-A9D3-0739-37A4-092B07CAC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FFDF65-6605-63A9-AA32-653A1A6C0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지난 발표 때 주제 였던 </a:t>
            </a:r>
            <a:r>
              <a:rPr lang="en-US" altLang="ko-KR" dirty="0" err="1"/>
              <a:t>ZSDA</a:t>
            </a:r>
            <a:r>
              <a:rPr lang="ko-KR" altLang="en-US" dirty="0"/>
              <a:t>에 대해 잠시 말씀드리겠습니다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ZSDA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어떤 한 도메인의 데이터에서만 학습된 모델이</a:t>
            </a:r>
            <a:r>
              <a:rPr lang="en-US" altLang="ko-KR" dirty="0"/>
              <a:t>, </a:t>
            </a:r>
            <a:r>
              <a:rPr lang="ko-KR" altLang="en-US" dirty="0"/>
              <a:t>학습 때 보지 못했던 다른 도메인의 데이터를 </a:t>
            </a:r>
            <a:r>
              <a:rPr lang="ko-KR" altLang="en-US" dirty="0" err="1"/>
              <a:t>입력받았을</a:t>
            </a:r>
            <a:r>
              <a:rPr lang="ko-KR" altLang="en-US" dirty="0"/>
              <a:t> 때</a:t>
            </a:r>
            <a:r>
              <a:rPr lang="en-US" altLang="ko-KR" dirty="0"/>
              <a:t>, </a:t>
            </a:r>
            <a:r>
              <a:rPr lang="ko-KR" altLang="en-US" dirty="0"/>
              <a:t>비슷한 수준의 성능을 내도록 하는 기법입니다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사진에서 보시면 </a:t>
            </a:r>
            <a:r>
              <a:rPr lang="en-US" altLang="ko-KR" dirty="0"/>
              <a:t>Train</a:t>
            </a:r>
            <a:r>
              <a:rPr lang="ko-KR" altLang="en-US" dirty="0"/>
              <a:t>시에는 소스 데이터만 가지고 있지만</a:t>
            </a:r>
            <a:r>
              <a:rPr lang="en-US" altLang="ko-KR" dirty="0"/>
              <a:t>, Inference</a:t>
            </a:r>
            <a:r>
              <a:rPr lang="ko-KR" altLang="en-US" dirty="0"/>
              <a:t>시에는 </a:t>
            </a:r>
            <a:r>
              <a:rPr lang="en-US" altLang="ko-KR" dirty="0"/>
              <a:t>Train</a:t>
            </a:r>
            <a:r>
              <a:rPr lang="ko-KR" altLang="en-US" dirty="0"/>
              <a:t>시에 가지고 있지 않던 새로운 도메인에 대한 데이터에 대해 예측하게 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9450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50886-5938-9B16-1C7B-56C583361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8BFA91-C5CE-7D4A-9257-5B8E534AC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39927F-B79F-B93A-0308-9ECFCD33C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3998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F5B70-D143-9D6A-348E-A70123984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4BBF64-7603-E870-3838-1EA371C6B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567F75-C46B-0D3A-2D04-342A0601C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2299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5F318-B4DA-347F-86D3-4ECD7A01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5BCD9C-F3F5-FE45-CA01-C926B7062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EE77E8-DEC6-FBFC-C78F-B82AD420B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1069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1FF60-4760-36C0-E2CF-F5DBBC1B1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FED865-41A9-4CD2-26C2-28F45A2B4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062CEB-5BF5-FDB1-1C61-F3872A838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0264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9CBBC-DD89-4544-0237-4F46C177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E9BB97-D6BD-E410-072A-2EA2A6AD3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33393-8D19-B41B-5BA6-C4BC6FE13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6489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9CBBC-DD89-4544-0237-4F46C177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E9BB97-D6BD-E410-072A-2EA2A6AD3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33393-8D19-B41B-5BA6-C4BC6FE13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6646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9CBBC-DD89-4544-0237-4F46C177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E9BB97-D6BD-E410-072A-2EA2A6AD3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33393-8D19-B41B-5BA6-C4BC6FE13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7800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9CBBC-DD89-4544-0237-4F46C177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E9BB97-D6BD-E410-072A-2EA2A6AD3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33393-8D19-B41B-5BA6-C4BC6FE13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7553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9CBBC-DD89-4544-0237-4F46C177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E9BB97-D6BD-E410-072A-2EA2A6AD3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33393-8D19-B41B-5BA6-C4BC6FE13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2817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9CBBC-DD89-4544-0237-4F46C177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E9BB97-D6BD-E410-072A-2EA2A6AD3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33393-8D19-B41B-5BA6-C4BC6FE13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486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9CBBC-DD89-4544-0237-4F46C177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E9BB97-D6BD-E410-072A-2EA2A6AD3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33393-8D19-B41B-5BA6-C4BC6FE13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6570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9CBBC-DD89-4544-0237-4F46C177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E9BB97-D6BD-E410-072A-2EA2A6AD3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33393-8D19-B41B-5BA6-C4BC6FE13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571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9CBBC-DD89-4544-0237-4F46C177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E9BB97-D6BD-E410-072A-2EA2A6AD3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33393-8D19-B41B-5BA6-C4BC6FE13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79992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9CBBC-DD89-4544-0237-4F46C177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E9BB97-D6BD-E410-072A-2EA2A6AD3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33393-8D19-B41B-5BA6-C4BC6FE13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이 논문이 다루는 </a:t>
            </a:r>
            <a:r>
              <a:rPr lang="en-US" altLang="ko-KR" dirty="0"/>
              <a:t>UDA</a:t>
            </a:r>
            <a:r>
              <a:rPr lang="ko-KR" altLang="en-US" dirty="0"/>
              <a:t>는 </a:t>
            </a:r>
            <a:r>
              <a:rPr lang="en-US" altLang="ko-KR" dirty="0" err="1"/>
              <a:t>ZSDA</a:t>
            </a:r>
            <a:r>
              <a:rPr lang="ko-KR" altLang="en-US" dirty="0"/>
              <a:t>와 달리 타겟 도메인의 이미지를 훈련에 사용합니다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이 타겟 이미지의 정답 레이블은 존재하지 않습니다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UDA</a:t>
            </a:r>
            <a:r>
              <a:rPr lang="ko-KR" altLang="en-US" dirty="0"/>
              <a:t>는 레이블이 있는 소스 데이터와 레이블이 없는 타겟 데이터를 함께 사용해 타겟 도메인의 성능을 올리는 것이 목표입니다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teacher </a:t>
            </a:r>
            <a:r>
              <a:rPr lang="en-US" altLang="ko-KR" dirty="0" err="1"/>
              <a:t>networ</a:t>
            </a:r>
            <a:r>
              <a:rPr lang="ko-KR" altLang="en-US" dirty="0"/>
              <a:t>를 통해 수도 레이블을 생성하고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distillation </a:t>
            </a:r>
            <a:r>
              <a:rPr lang="ko-KR" altLang="en-US" dirty="0"/>
              <a:t>하는 방식을 주로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495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열기구의 윗부분을 위에서 근접 촬영한 사진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프레젠테이션 제목</a:t>
            </a:r>
          </a:p>
        </p:txBody>
      </p:sp>
      <p:sp>
        <p:nvSpPr>
          <p:cNvPr id="23" name="저자 및 날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1"/>
            </a:lvl1pPr>
          </a:lstStyle>
          <a:p>
            <a:r>
              <a:t>저자 및 날짜</a:t>
            </a:r>
          </a:p>
        </p:txBody>
      </p:sp>
      <p:sp>
        <p:nvSpPr>
          <p:cNvPr id="2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열기구를 아래에서 근접 촬영한 사진"/>
          <p:cNvSpPr>
            <a:spLocks noGrp="1"/>
          </p:cNvSpPr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슬라이드 제목</a:t>
            </a:r>
          </a:p>
        </p:txBody>
      </p:sp>
      <p:sp>
        <p:nvSpPr>
          <p:cNvPr id="3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슬라이드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01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61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파란 하늘을 배경으로 아래에서 올려다본 열기구"/>
          <p:cNvSpPr>
            <a:spLocks noGrp="1"/>
          </p:cNvSpPr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6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8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8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의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>
            <a:lvl1pPr>
              <a:defRPr b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dirty="0" err="1"/>
              <a:t>의제</a:t>
            </a:r>
            <a:r>
              <a:rPr dirty="0"/>
              <a:t> </a:t>
            </a:r>
            <a:r>
              <a:rPr dirty="0" err="1"/>
              <a:t>제목</a:t>
            </a:r>
            <a:endParaRPr dirty="0"/>
          </a:p>
        </p:txBody>
      </p:sp>
      <p:sp>
        <p:nvSpPr>
          <p:cNvPr id="89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dirty="0" err="1"/>
              <a:t>의제</a:t>
            </a:r>
            <a:r>
              <a:rPr dirty="0"/>
              <a:t> </a:t>
            </a:r>
            <a:r>
              <a:rPr dirty="0" err="1"/>
              <a:t>부제</a:t>
            </a:r>
            <a:endParaRPr dirty="0"/>
          </a:p>
        </p:txBody>
      </p:sp>
      <p:sp>
        <p:nvSpPr>
          <p:cNvPr id="90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의제 주제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내역서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사실 정보</a:t>
            </a:r>
          </a:p>
        </p:txBody>
      </p:sp>
      <p:sp>
        <p:nvSpPr>
          <p:cNvPr id="10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속성</a:t>
            </a:r>
          </a:p>
        </p:txBody>
      </p:sp>
      <p:sp>
        <p:nvSpPr>
          <p:cNvPr id="116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“멋진 인용구”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파란 하늘을 배경으로 아래에서 올려다본 열기구"/>
          <p:cNvSpPr>
            <a:spLocks noGrp="1"/>
          </p:cNvSpPr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열기구의 윗부분을 위에서 근접 촬영한 사진"/>
          <p:cNvSpPr>
            <a:spLocks noGrp="1"/>
          </p:cNvSpPr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파란 하늘을 배경으로 아래에서 올려다본 열기구"/>
          <p:cNvSpPr>
            <a:spLocks noGrp="1"/>
          </p:cNvSpPr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파란 하늘을 배경으로 아래에서 올려다본 열기구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1">
                <a:solidFill>
                  <a:srgbClr val="FFFFFF"/>
                </a:solidFill>
              </a:defRPr>
            </a:lvl1pPr>
          </a:lstStyle>
          <a:p>
            <a:r>
              <a:t>저자 및 날짜</a:t>
            </a:r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프레젠테이션 제목</a:t>
            </a:r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4212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제목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구분점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저자 및 날짜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ko-KR" sz="3600" b="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2021096880 </a:t>
            </a:r>
            <a:r>
              <a:rPr lang="ko-KR" altLang="en-US" sz="3600" b="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신규철</a:t>
            </a:r>
          </a:p>
          <a:p>
            <a:endParaRPr dirty="0"/>
          </a:p>
        </p:txBody>
      </p:sp>
      <p:sp>
        <p:nvSpPr>
          <p:cNvPr id="152" name="HW 2 :  Curve Fitting  using Least Squares Method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9100" spc="-182"/>
            </a:pPr>
            <a:r>
              <a:rPr lang="es-ES" sz="8000" b="0" spc="-3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GPU </a:t>
            </a:r>
            <a:r>
              <a:rPr lang="ko-KR" altLang="en-US" sz="8000" b="0" spc="-3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가속을 통한</a:t>
            </a:r>
            <a:r>
              <a:rPr lang="en-US" altLang="ko-KR" sz="8000" b="0" spc="-3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Attention </a:t>
            </a:r>
            <a:r>
              <a:rPr lang="ko-KR" altLang="en-US" sz="8000" b="0" spc="-3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최적화</a:t>
            </a:r>
            <a:endParaRPr sz="8000" b="0" spc="-300" dirty="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153" name="Gyu Cheol Shin…"/>
          <p:cNvSpPr txBox="1">
            <a:spLocks noGrp="1"/>
          </p:cNvSpPr>
          <p:nvPr>
            <p:ph type="subTitle" sz="quarter" idx="1"/>
          </p:nvPr>
        </p:nvSpPr>
        <p:spPr>
          <a:xfrm>
            <a:off x="1201342" y="7489271"/>
            <a:ext cx="21971001" cy="1905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ko-KR" sz="4400" b="0" spc="-3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Naïve vs Flash Attention</a:t>
            </a:r>
            <a:r>
              <a:rPr lang="ko-KR" altLang="en-US" sz="4400" b="0" spc="-3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의 비교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229C3-2E25-D6D1-C1F8-9B231C0D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3E560-8FE6-6492-3952-BDBDE72BE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024989"/>
            <a:ext cx="21971000" cy="1433163"/>
          </a:xfrm>
        </p:spPr>
        <p:txBody>
          <a:bodyPr/>
          <a:lstStyle/>
          <a:p>
            <a:r>
              <a:rPr lang="en-US" altLang="ko-KR" b="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Contents</a:t>
            </a:r>
            <a:endParaRPr lang="ko-KR" altLang="en-US" b="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A67058-B0B5-AF1B-B884-7C17C349A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3735" y="3511872"/>
            <a:ext cx="21971000" cy="8256012"/>
          </a:xfrm>
        </p:spPr>
        <p:txBody>
          <a:bodyPr anchor="ctr"/>
          <a:lstStyle/>
          <a:p>
            <a:pPr marL="914400" indent="-914400">
              <a:buAutoNum type="arabicPeriod"/>
            </a:pPr>
            <a:r>
              <a:rPr lang="ko-KR" altLang="en-US" sz="4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서론</a:t>
            </a:r>
            <a:endParaRPr lang="en-US" altLang="ko-KR" sz="4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914400" indent="-914400">
              <a:buAutoNum type="arabicPeriod"/>
            </a:pP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이론적 배경</a:t>
            </a:r>
            <a:endParaRPr lang="en-US" altLang="ko-KR" sz="4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indent="-914400">
              <a:buAutoNum type="arabicPeriod"/>
            </a:pP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커널 구현 비교</a:t>
            </a:r>
            <a:endParaRPr lang="en-US" altLang="ko-KR" sz="4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indent="-914400">
              <a:buAutoNum type="arabicPeriod"/>
            </a:pP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실험</a:t>
            </a:r>
            <a:endParaRPr lang="en-US" altLang="ko-KR" sz="4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indent="-914400">
              <a:buAutoNum type="arabicPeriod"/>
            </a:pP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결론</a:t>
            </a:r>
            <a:endParaRPr lang="en-US" altLang="ko-KR" sz="4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0669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1860D-0315-5FE3-53B2-77EE99179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E00F6-5C35-82C3-2618-C6CBF9083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Introduction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CDB351-2DA6-97D6-EF6C-BF588C2FD4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Transformer</a:t>
            </a:r>
            <a:r>
              <a:rPr lang="ko-KR" altLang="en-US" dirty="0"/>
              <a:t> 모델의 핵심 연산 </a:t>
            </a:r>
            <a:r>
              <a:rPr lang="en-US" altLang="ko-KR" dirty="0"/>
              <a:t>: </a:t>
            </a:r>
            <a:r>
              <a:rPr lang="en-US" altLang="ko-KR" b="1" dirty="0"/>
              <a:t>Attention</a:t>
            </a:r>
            <a:endParaRPr lang="ko-KR" altLang="en-US" b="1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43A2EC-A82F-B038-495F-DAC5F9E7B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67012" y="4217307"/>
            <a:ext cx="9341875" cy="7250793"/>
          </a:xfrm>
        </p:spPr>
        <p:txBody>
          <a:bodyPr>
            <a:normAutofit/>
          </a:bodyPr>
          <a:lstStyle/>
          <a:p>
            <a:pPr marL="609600" lvl="1" indent="0">
              <a:buNone/>
            </a:pP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 </a:t>
            </a:r>
            <a: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 </a:t>
            </a: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</a:t>
            </a:r>
            <a: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Query</a:t>
            </a:r>
          </a:p>
          <a:p>
            <a:pPr marL="609600" lvl="1" indent="0">
              <a:buNone/>
            </a:pP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 </a:t>
            </a:r>
            <a: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 </a:t>
            </a: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</a:t>
            </a:r>
            <a: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Key, Value</a:t>
            </a:r>
          </a:p>
          <a:p>
            <a:pPr marL="1524000" lvl="1" indent="-914400">
              <a:buAutoNum type="arabicPeriod"/>
            </a:pPr>
            <a: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Query</a:t>
            </a: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</a:t>
            </a: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sz="4400" dirty="0" err="1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행렬곱</a:t>
            </a:r>
            <a:endParaRPr lang="en-US" altLang="ko-KR" sz="4400" dirty="0">
              <a:highlight>
                <a:srgbClr val="FFFF00"/>
              </a:highlight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524000" lvl="1" indent="-914400">
              <a:buAutoNum type="arabicPeriod"/>
            </a:pPr>
            <a:r>
              <a:rPr lang="ko-KR" altLang="en-US" sz="4400" dirty="0" err="1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행렬곱</a:t>
            </a:r>
            <a:r>
              <a:rPr lang="ko-KR" altLang="en-US" sz="4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</a:t>
            </a: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4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Softmax</a:t>
            </a: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</a:t>
            </a:r>
            <a: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/>
            </a:r>
            <a:b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가중치 </a:t>
            </a:r>
            <a: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(Attention Score)</a:t>
            </a:r>
          </a:p>
          <a:p>
            <a:pPr marL="1524000" lvl="1" indent="-914400">
              <a:buAutoNum type="arabicPeriod"/>
            </a:pPr>
            <a: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Score </a:t>
            </a: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행렬과 </a:t>
            </a:r>
            <a: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Value</a:t>
            </a: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sz="4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행렬곱</a:t>
            </a:r>
            <a:endParaRPr lang="en-US" altLang="ko-KR" sz="4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609600" lvl="1" indent="0"/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</a:t>
            </a:r>
            <a: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</a:t>
            </a: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</a:t>
            </a: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en-US" altLang="ko-KR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Align </a:t>
            </a:r>
            <a:r>
              <a:rPr lang="ko-KR" altLang="en-US" sz="4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계산</a:t>
            </a:r>
            <a:endParaRPr lang="en-US" altLang="ko-KR" sz="4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E7D622-455A-D18C-8602-AD3398745F96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CD71E5A4-66F7-5D74-EF84-4018B168665A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" name="Picture 4" descr="transformer - &quot;Attention is all you need&quot; paper : How are the Q, K, V  values calculated? - Artificial Intelligence Stack Exchange">
            <a:extLst>
              <a:ext uri="{FF2B5EF4-FFF2-40B4-BE49-F238E27FC236}">
                <a16:creationId xmlns:a16="http://schemas.microsoft.com/office/drawing/2014/main" id="{3AC87303-F2BE-4EA5-9B37-F61F35B1EF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1" b="69164"/>
          <a:stretch>
            <a:fillRect/>
          </a:stretch>
        </p:blipFill>
        <p:spPr bwMode="auto">
          <a:xfrm>
            <a:off x="460562" y="5730874"/>
            <a:ext cx="13960470" cy="268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85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A3E36-5B98-1E90-56E7-5899C5F8C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7A593-536F-963A-7756-3B7E85827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서론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3FE6B4-725B-4F4B-A10D-BDB70F0D9C3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Attention</a:t>
            </a:r>
            <a:r>
              <a:rPr lang="ko-KR" altLang="en-US" dirty="0"/>
              <a:t>의 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EAEFD873-50DB-9193-AB1E-DA82231A6C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5744918" y="3795907"/>
                <a:ext cx="7640337" cy="8043636"/>
              </a:xfrm>
            </p:spPr>
            <p:txBody>
              <a:bodyPr>
                <a:noAutofit/>
              </a:bodyPr>
              <a:lstStyle/>
              <a:p>
                <a:pPr marL="609600" lvl="1" indent="0">
                  <a:buNone/>
                </a:pPr>
                <a:r>
                  <a:rPr lang="en-US" altLang="ko-KR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Q,</a:t>
                </a:r>
                <a:r>
                  <a:rPr lang="ko-KR" altLang="en-US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K, V </a:t>
                </a:r>
                <a:r>
                  <a:rPr lang="ko-KR" altLang="en-US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행렬을 </a:t>
                </a:r>
                <a:endParaRPr lang="en-US" altLang="ko-KR" sz="48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>
                  <a:buNone/>
                </a:pPr>
                <a:r>
                  <a:rPr lang="en-US" altLang="ko-KR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Naïve</a:t>
                </a:r>
                <a:r>
                  <a:rPr lang="ko-KR" altLang="en-US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하게 </a:t>
                </a:r>
                <a:r>
                  <a:rPr lang="ko-KR" altLang="en-US" sz="4800" dirty="0" err="1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곱해버림</a:t>
                </a:r>
                <a:endParaRPr lang="en-US" altLang="ko-KR" sz="48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>
                  <a:buNone/>
                </a:pPr>
                <a:r>
                  <a:rPr lang="ko-KR" altLang="en-US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→ </a:t>
                </a:r>
                <a14:m>
                  <m:oMath xmlns:m="http://schemas.openxmlformats.org/officeDocument/2006/math">
                    <m:r>
                      <a:rPr lang="en-US" altLang="ko-KR" sz="4800" b="0" i="1" u="sng" smtClean="0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𝑂</m:t>
                    </m:r>
                    <m:r>
                      <a:rPr lang="en-US" altLang="ko-KR" sz="4800" b="0" i="1" u="sng" smtClean="0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(</m:t>
                    </m:r>
                    <m:sSup>
                      <m:sSupPr>
                        <m:ctrlPr>
                          <a:rPr lang="en-US" altLang="ko-KR" sz="4800" b="0" i="1" u="sng" smtClean="0">
                            <a:latin typeface="Cambria Math" panose="02040503050406030204" pitchFamily="18" charset="0"/>
                            <a:ea typeface="Pretendard Light" panose="02000403000000020004" pitchFamily="2" charset="-127"/>
                            <a:cs typeface="Pretendard Light" panose="02000403000000020004" pitchFamily="2" charset="-127"/>
                          </a:rPr>
                        </m:ctrlPr>
                      </m:sSupPr>
                      <m:e>
                        <m:r>
                          <a:rPr lang="en-US" altLang="ko-KR" sz="4800" b="0" i="1" u="sng" smtClean="0">
                            <a:latin typeface="Cambria Math" panose="02040503050406030204" pitchFamily="18" charset="0"/>
                            <a:ea typeface="Pretendard Light" panose="02000403000000020004" pitchFamily="2" charset="-127"/>
                            <a:cs typeface="Pretendard Light" panose="02000403000000020004" pitchFamily="2" charset="-127"/>
                          </a:rPr>
                          <m:t>𝑁</m:t>
                        </m:r>
                      </m:e>
                      <m:sup>
                        <m:r>
                          <a:rPr lang="en-US" altLang="ko-KR" sz="4800" b="0" i="1" u="sng" smtClean="0">
                            <a:latin typeface="Cambria Math" panose="02040503050406030204" pitchFamily="18" charset="0"/>
                            <a:ea typeface="Pretendard Light" panose="02000403000000020004" pitchFamily="2" charset="-127"/>
                            <a:cs typeface="Pretendard Light" panose="02000403000000020004" pitchFamily="2" charset="-127"/>
                          </a:rPr>
                          <m:t>2</m:t>
                        </m:r>
                      </m:sup>
                    </m:sSup>
                    <m:r>
                      <a:rPr lang="en-US" altLang="ko-KR" sz="4800" b="0" i="1" u="sng" smtClean="0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)</m:t>
                    </m:r>
                    <m:r>
                      <a:rPr lang="ko-KR" altLang="en-US" sz="4800" i="1" u="sng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의</m:t>
                    </m:r>
                  </m:oMath>
                </a14:m>
                <a:r>
                  <a:rPr lang="en-US" altLang="ko-KR" sz="4800" u="sng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</a:p>
              <a:p>
                <a:pPr marL="609600" lvl="1" indent="0">
                  <a:buNone/>
                </a:pPr>
                <a:r>
                  <a:rPr lang="en-US" altLang="ko-KR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   </a:t>
                </a:r>
                <a:r>
                  <a:rPr lang="ko-KR" altLang="en-US" sz="4800" u="sng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시간 </a:t>
                </a:r>
                <a:r>
                  <a:rPr lang="en-US" altLang="ko-KR" sz="4800" u="sng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&amp; </a:t>
                </a:r>
                <a:r>
                  <a:rPr lang="ko-KR" altLang="en-US" sz="4800" u="sng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공간 복잡도</a:t>
                </a:r>
                <a:endParaRPr lang="en-US" altLang="ko-KR" sz="4800" u="sng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EAEFD873-50DB-9193-AB1E-DA82231A6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744918" y="3795907"/>
                <a:ext cx="7640337" cy="8043636"/>
              </a:xfrm>
              <a:blipFill>
                <a:blip r:embed="rId3"/>
                <a:stretch>
                  <a:fillRect t="-16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A6751B-E93E-FB98-B768-BB5CADAF8504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0D78605B-1F03-71A7-6A25-2564A2B14D8B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050" name="Picture 2" descr="Introduction to Attention Mechanism - Blog by Kemal Erdem">
            <a:extLst>
              <a:ext uri="{FF2B5EF4-FFF2-40B4-BE49-F238E27FC236}">
                <a16:creationId xmlns:a16="http://schemas.microsoft.com/office/drawing/2014/main" id="{E97AEB50-3353-49CC-7A42-D5D38508D8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71"/>
          <a:stretch>
            <a:fillRect/>
          </a:stretch>
        </p:blipFill>
        <p:spPr bwMode="auto">
          <a:xfrm>
            <a:off x="2042972" y="3182679"/>
            <a:ext cx="13192221" cy="865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678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234C-403D-94D3-7524-C46D92F68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FACA8-8559-674F-FE1E-CC2D443C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서론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785A25-22C3-FCD7-742A-D31A46F71B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Attention</a:t>
            </a:r>
            <a:r>
              <a:rPr lang="ko-KR" altLang="en-US" dirty="0"/>
              <a:t>의 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166A38E1-4ACF-5CC4-3BBC-54D20BF22DC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3408118" y="3424463"/>
                <a:ext cx="9335768" cy="8520793"/>
              </a:xfrm>
            </p:spPr>
            <p:txBody>
              <a:bodyPr>
                <a:noAutofit/>
              </a:bodyPr>
              <a:lstStyle/>
              <a:p>
                <a:pPr marL="609600" lvl="1" indent="0">
                  <a:buNone/>
                </a:pPr>
                <a:r>
                  <a:rPr lang="en-US" altLang="ko-KR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Q,</a:t>
                </a:r>
                <a:r>
                  <a:rPr lang="ko-KR" altLang="en-US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K, V </a:t>
                </a:r>
                <a:r>
                  <a:rPr lang="ko-KR" altLang="en-US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행렬을 </a:t>
                </a:r>
                <a:endParaRPr lang="en-US" altLang="ko-KR" sz="48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>
                  <a:buNone/>
                </a:pPr>
                <a:r>
                  <a:rPr lang="en-US" altLang="ko-KR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Naïve</a:t>
                </a:r>
                <a:r>
                  <a:rPr lang="ko-KR" altLang="en-US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하게 </a:t>
                </a:r>
                <a:r>
                  <a:rPr lang="ko-KR" altLang="en-US" sz="4800" dirty="0" err="1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곱해버림</a:t>
                </a:r>
                <a:endParaRPr lang="en-US" altLang="ko-KR" sz="48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>
                  <a:buNone/>
                </a:pPr>
                <a:r>
                  <a:rPr lang="ko-KR" altLang="en-US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→ </a:t>
                </a:r>
                <a14:m>
                  <m:oMath xmlns:m="http://schemas.openxmlformats.org/officeDocument/2006/math">
                    <m:r>
                      <a:rPr lang="en-US" altLang="ko-KR" sz="4800" b="0" i="1" smtClean="0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𝑂</m:t>
                    </m:r>
                    <m:r>
                      <a:rPr lang="en-US" altLang="ko-KR" sz="4800" b="0" i="1" smtClean="0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(</m:t>
                    </m:r>
                    <m:sSup>
                      <m:sSupPr>
                        <m:ctrlPr>
                          <a:rPr lang="en-US" altLang="ko-KR" sz="4800" b="0" i="1" smtClean="0">
                            <a:latin typeface="Cambria Math" panose="02040503050406030204" pitchFamily="18" charset="0"/>
                            <a:ea typeface="Pretendard Light" panose="02000403000000020004" pitchFamily="2" charset="-127"/>
                            <a:cs typeface="Pretendard Light" panose="02000403000000020004" pitchFamily="2" charset="-127"/>
                          </a:rPr>
                        </m:ctrlPr>
                      </m:sSupPr>
                      <m:e>
                        <m:r>
                          <a:rPr lang="en-US" altLang="ko-KR" sz="4800" b="0" i="1" smtClean="0">
                            <a:latin typeface="Cambria Math" panose="02040503050406030204" pitchFamily="18" charset="0"/>
                            <a:ea typeface="Pretendard Light" panose="02000403000000020004" pitchFamily="2" charset="-127"/>
                            <a:cs typeface="Pretendard Light" panose="02000403000000020004" pitchFamily="2" charset="-127"/>
                          </a:rPr>
                          <m:t>𝑁</m:t>
                        </m:r>
                      </m:e>
                      <m:sup>
                        <m:r>
                          <a:rPr lang="en-US" altLang="ko-KR" sz="4800" b="0" i="1" smtClean="0">
                            <a:latin typeface="Cambria Math" panose="02040503050406030204" pitchFamily="18" charset="0"/>
                            <a:ea typeface="Pretendard Light" panose="02000403000000020004" pitchFamily="2" charset="-127"/>
                            <a:cs typeface="Pretendard Light" panose="02000403000000020004" pitchFamily="2" charset="-127"/>
                          </a:rPr>
                          <m:t>2</m:t>
                        </m:r>
                      </m:sup>
                    </m:sSup>
                    <m:r>
                      <a:rPr lang="en-US" altLang="ko-KR" sz="4800" b="0" i="1" smtClean="0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)</m:t>
                    </m:r>
                    <m:r>
                      <a:rPr lang="ko-KR" altLang="en-US" sz="4800" i="1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의</m:t>
                    </m:r>
                  </m:oMath>
                </a14:m>
                <a:r>
                  <a:rPr lang="en-US" altLang="ko-KR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</a:p>
              <a:p>
                <a:pPr marL="609600" lvl="1" indent="0">
                  <a:buNone/>
                </a:pPr>
                <a:r>
                  <a:rPr lang="en-US" altLang="ko-KR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   </a:t>
                </a:r>
                <a:r>
                  <a:rPr lang="ko-KR" altLang="en-US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시간 </a:t>
                </a:r>
                <a:r>
                  <a:rPr lang="en-US" altLang="ko-KR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&amp; </a:t>
                </a:r>
                <a:r>
                  <a:rPr lang="ko-KR" altLang="en-US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공간 복잡도</a:t>
                </a:r>
                <a:endParaRPr lang="en-US" altLang="ko-KR" sz="48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>
                  <a:buNone/>
                </a:pPr>
                <a:endParaRPr lang="en-US" altLang="ko-KR" sz="48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>
                  <a:buNone/>
                </a:pPr>
                <a:r>
                  <a:rPr lang="ko-KR" altLang="en-US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이를 해결한 </a:t>
                </a:r>
                <a:r>
                  <a:rPr lang="en-US" altLang="ko-KR" sz="48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Flash Attention</a:t>
                </a:r>
                <a:r>
                  <a:rPr lang="ko-KR" altLang="en-US" sz="4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을 이론적 원리를 구현하고 비교하는 것이 프로젝트의 목적</a:t>
                </a:r>
                <a:endParaRPr lang="en-US" altLang="ko-KR" sz="48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166A38E1-4ACF-5CC4-3BBC-54D20BF22D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408118" y="3424463"/>
                <a:ext cx="9335768" cy="8520793"/>
              </a:xfrm>
              <a:blipFill>
                <a:blip r:embed="rId3"/>
                <a:stretch>
                  <a:fillRect t="-15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CBDC06-5A72-40F4-B098-32B76952A02A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C6458E93-EA78-637E-915E-2FE911045B75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050" name="Picture 2" descr="Introduction to Attention Mechanism - Blog by Kemal Erdem">
            <a:extLst>
              <a:ext uri="{FF2B5EF4-FFF2-40B4-BE49-F238E27FC236}">
                <a16:creationId xmlns:a16="http://schemas.microsoft.com/office/drawing/2014/main" id="{3E564491-9056-B258-BD0B-FA9B207B09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71"/>
          <a:stretch>
            <a:fillRect/>
          </a:stretch>
        </p:blipFill>
        <p:spPr bwMode="auto">
          <a:xfrm>
            <a:off x="1780423" y="4401636"/>
            <a:ext cx="10411577" cy="683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77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26CCF-AB2A-A264-DBBF-0F020DEC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B253D-ABBA-C205-A917-707C059FD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이론적 배경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A12068-2F0B-B709-6AC7-A39F2D8DAD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“Naïve” Attention vs Flash Attention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9653F0B8-0CF0-9DB8-1F61-52DBF106536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0755086" y="3424463"/>
                <a:ext cx="11988800" cy="8520793"/>
              </a:xfrm>
            </p:spPr>
            <p:txBody>
              <a:bodyPr>
                <a:noAutofit/>
              </a:bodyPr>
              <a:lstStyle/>
              <a:p>
                <a:pPr marL="609600" lvl="1" indent="0">
                  <a:buNone/>
                </a:pPr>
                <a:r>
                  <a:rPr lang="ko-KR" altLang="en-US" sz="4400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기존 </a:t>
                </a:r>
                <a:r>
                  <a:rPr lang="en-US" altLang="ko-KR" sz="4400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Naïve Attention</a:t>
                </a:r>
              </a:p>
              <a:p>
                <a:pPr marL="609600" lvl="1" indent="0">
                  <a:buNone/>
                </a:pPr>
                <a:r>
                  <a:rPr lang="en-US" altLang="ko-KR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Attn Score </a:t>
                </a:r>
                <a:r>
                  <a:rPr lang="ko-KR" altLang="en-US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행렬 </a:t>
                </a:r>
                <a:r>
                  <a:rPr lang="en-US" altLang="ko-KR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Global Memory(VRAM)</a:t>
                </a:r>
                <a:r>
                  <a:rPr lang="ko-KR" altLang="en-US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에 쓰기 </a:t>
                </a:r>
                <a:endParaRPr lang="en-US" altLang="ko-KR" sz="4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/>
                <a:r>
                  <a:rPr lang="ko-KR" altLang="en-US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→</a:t>
                </a:r>
                <a:r>
                  <a:rPr lang="en-US" altLang="ko-KR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ko-KR" altLang="en-US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다시 읽기</a:t>
                </a:r>
                <a:r>
                  <a:rPr lang="en-US" altLang="ko-KR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</a:p>
              <a:p>
                <a:pPr marL="609600" lvl="1" indent="0"/>
                <a:r>
                  <a:rPr lang="ko-KR" altLang="en-US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→ </a:t>
                </a:r>
                <a:r>
                  <a:rPr lang="en-US" altLang="ko-KR" sz="4400" dirty="0" err="1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Softmax</a:t>
                </a:r>
                <a:r>
                  <a:rPr lang="en-US" altLang="ko-KR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ko-KR" altLang="en-US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계산</a:t>
                </a:r>
                <a:endParaRPr lang="en-US" altLang="ko-KR" sz="4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/>
                <a:r>
                  <a:rPr lang="ko-KR" altLang="en-US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→ </a:t>
                </a:r>
                <a:r>
                  <a:rPr lang="en-US" altLang="ko-KR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V </a:t>
                </a:r>
                <a:r>
                  <a:rPr lang="ko-KR" altLang="en-US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읽기</a:t>
                </a:r>
                <a:endParaRPr lang="en-US" altLang="ko-KR" sz="4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/>
                <a:r>
                  <a:rPr lang="ko-KR" altLang="en-US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→ </a:t>
                </a:r>
                <a14:m>
                  <m:oMath xmlns:m="http://schemas.openxmlformats.org/officeDocument/2006/math">
                    <m:r>
                      <a:rPr lang="en-US" altLang="ko-KR" sz="4400" b="0" i="1" smtClean="0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𝐴𝑡𝑡𝑛𝑆𝑐𝑜𝑟𝑒</m:t>
                    </m:r>
                    <m:r>
                      <a:rPr lang="en-US" altLang="ko-KR" sz="4400" b="0" i="1" smtClean="0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 ×</m:t>
                    </m:r>
                    <m:r>
                      <a:rPr lang="en-US" altLang="ko-KR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Light" panose="02000403000000020004" pitchFamily="2" charset="-127"/>
                      </a:rPr>
                      <m:t>𝑉</m:t>
                    </m:r>
                  </m:oMath>
                </a14:m>
                <a:r>
                  <a:rPr lang="en-US" altLang="ko-KR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ko-KR" altLang="en-US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계산</a:t>
                </a:r>
                <a:endParaRPr lang="en-US" altLang="ko-KR" sz="4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/>
                <a:r>
                  <a:rPr lang="ko-KR" altLang="en-US" sz="4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→ 결과 쓰기</a:t>
                </a:r>
                <a:endParaRPr lang="en-US" altLang="ko-KR" sz="4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/>
                <a:r>
                  <a:rPr lang="en-US" altLang="ko-KR" sz="44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Bottleneck </a:t>
                </a:r>
                <a:r>
                  <a:rPr lang="ko-KR" altLang="en-US" sz="44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발생</a:t>
                </a:r>
                <a:r>
                  <a:rPr lang="en-US" altLang="ko-KR" sz="44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!</a:t>
                </a:r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9653F0B8-0CF0-9DB8-1F61-52DBF10653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755086" y="3424463"/>
                <a:ext cx="11988800" cy="8520793"/>
              </a:xfrm>
              <a:blipFill>
                <a:blip r:embed="rId3"/>
                <a:stretch>
                  <a:fillRect t="-14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C23837-6A14-6FDA-B027-CDA5E9105221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8D69C350-231B-ABE3-45A9-B20F8B90E887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076" name="Picture 4" descr="Flash Attention">
            <a:extLst>
              <a:ext uri="{FF2B5EF4-FFF2-40B4-BE49-F238E27FC236}">
                <a16:creationId xmlns:a16="http://schemas.microsoft.com/office/drawing/2014/main" id="{0E202FF2-8659-E267-08AA-C9D4EF4AB1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77"/>
          <a:stretch>
            <a:fillRect/>
          </a:stretch>
        </p:blipFill>
        <p:spPr bwMode="auto">
          <a:xfrm>
            <a:off x="1640114" y="3424463"/>
            <a:ext cx="7465815" cy="915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40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8787E-FDFD-31EF-67AD-8BF50208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8C61-C34C-AE52-A3EB-854A8BAD4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이론적 배경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AF5C75-C003-0A9B-EEB7-9BBDF7EC8E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“Naïve” Attention vs Flash Attention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F1D6D6C1-0061-4626-01F9-D2EFA7587E9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0755086" y="3683000"/>
                <a:ext cx="11988800" cy="8520793"/>
              </a:xfrm>
            </p:spPr>
            <p:txBody>
              <a:bodyPr>
                <a:noAutofit/>
              </a:bodyPr>
              <a:lstStyle/>
              <a:p>
                <a:pPr marL="609600" lvl="1" indent="0">
                  <a:buNone/>
                </a:pPr>
                <a:r>
                  <a:rPr lang="en-US" altLang="ko-KR" sz="4000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Flash Attention</a:t>
                </a:r>
              </a:p>
              <a:p>
                <a:pPr marL="609600" lvl="1" indent="0">
                  <a:buNone/>
                </a:pPr>
                <a:r>
                  <a:rPr lang="en-US" altLang="ko-KR" sz="4000" u="sng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Tiling</a:t>
                </a:r>
              </a:p>
              <a:p>
                <a:pPr marL="609600" lvl="1" indent="0">
                  <a:buNone/>
                </a:pPr>
                <a:r>
                  <a:rPr lang="ko-KR" altLang="en-US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데이터를 </a:t>
                </a:r>
                <a:r>
                  <a:rPr lang="en-US" altLang="ko-KR" sz="40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Tile</a:t>
                </a:r>
                <a:r>
                  <a:rPr lang="ko-KR" altLang="en-US" sz="40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로 쪼개고 </a:t>
                </a:r>
                <a:r>
                  <a:rPr lang="en-US" altLang="ko-KR" sz="40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Shared Memory</a:t>
                </a:r>
                <a:r>
                  <a:rPr lang="ko-KR" altLang="en-US" sz="40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에서</a:t>
                </a:r>
                <a:r>
                  <a:rPr lang="en-US" altLang="ko-KR" sz="40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/>
                </a:r>
                <a:br>
                  <a:rPr lang="en-US" altLang="ko-KR" sz="40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</a:br>
                <a:r>
                  <a:rPr lang="ko-KR" altLang="en-US" sz="40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계산 수행</a:t>
                </a:r>
                <a:endParaRPr lang="en-US" altLang="ko-KR" sz="4000" dirty="0">
                  <a:highlight>
                    <a:srgbClr val="FFFF00"/>
                  </a:highlight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>
                  <a:buNone/>
                </a:pPr>
                <a:r>
                  <a:rPr lang="ko-KR" altLang="en-US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발생하는 문제</a:t>
                </a:r>
                <a:endParaRPr lang="en-US" altLang="ko-KR" sz="4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>
                  <a:buNone/>
                </a:pPr>
                <a:r>
                  <a:rPr lang="en-US" altLang="ko-KR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- </a:t>
                </a:r>
                <a:r>
                  <a:rPr lang="en-US" altLang="ko-KR" sz="40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Tile</a:t>
                </a:r>
                <a:r>
                  <a:rPr lang="ko-KR" altLang="en-US" sz="40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로 쪼개진 데이터 사이에는 접근이 불가</a:t>
                </a:r>
                <a:endParaRPr lang="en-US" altLang="ko-KR" sz="4000" dirty="0">
                  <a:highlight>
                    <a:srgbClr val="FFFF00"/>
                  </a:highlight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/>
                <a:r>
                  <a:rPr lang="en-US" altLang="ko-KR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- </a:t>
                </a:r>
                <a:r>
                  <a:rPr lang="ko-KR" altLang="en-US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기존 </a:t>
                </a:r>
                <a:r>
                  <a:rPr lang="en-US" altLang="ko-KR" sz="4000" dirty="0" err="1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Softmax</a:t>
                </a:r>
                <a:r>
                  <a:rPr lang="ko-KR" altLang="en-US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는 </a:t>
                </a:r>
                <a:r>
                  <a:rPr lang="en-US" altLang="ko-KR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Matrix </a:t>
                </a:r>
                <a:r>
                  <a:rPr lang="ko-KR" altLang="en-US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내의 모든 값을 알고 있는</a:t>
                </a:r>
                <a:r>
                  <a:rPr lang="en-US" altLang="ko-KR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/>
                </a:r>
                <a:br>
                  <a:rPr lang="en-US" altLang="ko-KR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</a:br>
                <a:r>
                  <a:rPr lang="en-US" altLang="ko-KR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  </a:t>
                </a:r>
                <a:r>
                  <a:rPr lang="ko-KR" altLang="en-US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상태에서 계산 필요</a:t>
                </a:r>
                <a:endParaRPr lang="en-US" altLang="ko-KR" sz="4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/>
                <a:r>
                  <a:rPr lang="en-US" altLang="ko-KR" sz="4000" u="sng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Online </a:t>
                </a:r>
                <a:r>
                  <a:rPr lang="en-US" altLang="ko-KR" sz="4000" u="sng" dirty="0" err="1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Softmax</a:t>
                </a:r>
                <a:endParaRPr lang="en-US" altLang="ko-KR" sz="4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/>
                <a:r>
                  <a:rPr lang="ko-KR" altLang="en-US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→ 전체 데이터를 다 보지 않고 </a:t>
                </a:r>
                <a:r>
                  <a:rPr lang="en-US" altLang="ko-KR" sz="4000" dirty="0" err="1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Softmax</a:t>
                </a:r>
                <a:r>
                  <a:rPr lang="ko-KR" altLang="en-US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를 계산할 수 있도록 </a:t>
                </a:r>
                <a:r>
                  <a:rPr lang="ko-KR" altLang="en-US" sz="4000" dirty="0">
                    <a:highlight>
                      <a:srgbClr val="FFFF00"/>
                    </a:highlight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각 타일을 읽어올 때마다 계산 값 보정</a:t>
                </a:r>
                <a:endParaRPr lang="en-US" altLang="ko-KR" sz="4000" dirty="0">
                  <a:highlight>
                    <a:srgbClr val="FFFF00"/>
                  </a:highlight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609600" lvl="1" indent="0"/>
                <a:r>
                  <a:rPr lang="ko-KR" altLang="en-US" sz="4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→ </a:t>
                </a:r>
                <a:r>
                  <a:rPr lang="ko-KR" altLang="en-US" sz="4000" u="sng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메모리 접근 </a:t>
                </a:r>
                <a14:m>
                  <m:oMath xmlns:m="http://schemas.openxmlformats.org/officeDocument/2006/math">
                    <m:r>
                      <a:rPr lang="en-US" altLang="ko-KR" sz="4000" b="0" i="1" u="sng" smtClean="0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𝑂</m:t>
                    </m:r>
                    <m:r>
                      <a:rPr lang="en-US" altLang="ko-KR" sz="4000" b="0" i="1" u="sng" smtClean="0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(</m:t>
                    </m:r>
                    <m:r>
                      <a:rPr lang="en-US" altLang="ko-KR" sz="4000" b="0" i="1" u="sng" smtClean="0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𝑁</m:t>
                    </m:r>
                    <m:r>
                      <a:rPr lang="en-US" altLang="ko-KR" sz="4000" b="0" i="1" u="sng" smtClean="0">
                        <a:latin typeface="Cambria Math" panose="02040503050406030204" pitchFamily="18" charset="0"/>
                        <a:ea typeface="Pretendard Light" panose="02000403000000020004" pitchFamily="2" charset="-127"/>
                        <a:cs typeface="Pretendard Light" panose="02000403000000020004" pitchFamily="2" charset="-127"/>
                      </a:rPr>
                      <m:t>)</m:t>
                    </m:r>
                  </m:oMath>
                </a14:m>
                <a:r>
                  <a:rPr lang="ko-KR" altLang="en-US" sz="4000" u="sng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으로 줄임</a:t>
                </a:r>
                <a:endParaRPr lang="en-US" altLang="ko-KR" sz="4000" u="sng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F1D6D6C1-0061-4626-01F9-D2EFA7587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755086" y="3683000"/>
                <a:ext cx="11988800" cy="8520793"/>
              </a:xfrm>
              <a:blipFill>
                <a:blip r:embed="rId3"/>
                <a:stretch>
                  <a:fillRect t="-1216" b="-115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B92CC8-E339-F9EF-A16C-18F2214425B0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3E633108-300C-4B34-123F-A4D55752C683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076" name="Picture 4" descr="Flash Attention">
            <a:extLst>
              <a:ext uri="{FF2B5EF4-FFF2-40B4-BE49-F238E27FC236}">
                <a16:creationId xmlns:a16="http://schemas.microsoft.com/office/drawing/2014/main" id="{E4D2F656-863D-2903-46C8-4A8211D07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49" t="-1323" r="1172" b="1323"/>
          <a:stretch>
            <a:fillRect/>
          </a:stretch>
        </p:blipFill>
        <p:spPr bwMode="auto">
          <a:xfrm>
            <a:off x="1206500" y="3307712"/>
            <a:ext cx="9051671" cy="983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87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E6A7-87FE-4840-2632-37319213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82731-B8C2-BC1A-81B1-22632CDE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</a:t>
            </a:r>
            <a:r>
              <a:rPr lang="ko-KR" altLang="en-US" dirty="0"/>
              <a:t>구현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B646DD-3871-1B80-2DCF-13FC69B176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 smtClean="0"/>
              <a:t>Attention with CPU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C7B68F-818E-6FD3-DFE3-4C2F96E50269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430C9EA3-2D5B-5FAF-EB3A-76E56511D4CC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3916" y="4248504"/>
            <a:ext cx="8443583" cy="8256012"/>
          </a:xfrm>
        </p:spPr>
        <p:txBody>
          <a:bodyPr/>
          <a:lstStyle/>
          <a:p>
            <a:r>
              <a:rPr lang="en-US" altLang="ko-KR" dirty="0" smtClean="0"/>
              <a:t>3</a:t>
            </a:r>
            <a:r>
              <a:rPr lang="ko-KR" altLang="en-US" dirty="0" smtClean="0"/>
              <a:t>중 </a:t>
            </a:r>
            <a:r>
              <a:rPr lang="en-US" altLang="ko-KR" dirty="0" smtClean="0"/>
              <a:t>Loop</a:t>
            </a:r>
            <a:r>
              <a:rPr lang="ko-KR" altLang="en-US" dirty="0" smtClean="0"/>
              <a:t>로 비효율적으로 짜여 있음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454989" y="4204904"/>
            <a:ext cx="12192000" cy="82176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attention_cpu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Q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K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::</a:t>
            </a:r>
            <a:r>
              <a:rPr lang="en-US" altLang="ko-KR" dirty="0">
                <a:solidFill>
                  <a:srgbClr val="2B91A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vector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 score(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LOOP_I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max_val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-1e20f;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LOOP_J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sum = 0.0f;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LOOP_K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sum +=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Q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k]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K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[j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k];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score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j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sum /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sqrtf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((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(score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j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&gt;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max_val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max_val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score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j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sum_exp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0.0f;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LOOP_J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score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j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expf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(score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j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-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max_val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sum_exp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+= score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j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LOOP_K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out_val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0.0f;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LOOP_J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out_val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+= (score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j</a:t>
            </a:r>
            <a:r>
              <a:rPr lang="en-US" altLang="ko-KR" dirty="0">
                <a:solidFill>
                  <a:srgbClr val="0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/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sum_exp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[j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k];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k] =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out_val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872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E6A7-87FE-4840-2632-37319213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82731-B8C2-BC1A-81B1-22632CDE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</a:t>
            </a:r>
            <a:r>
              <a:rPr lang="ko-KR" altLang="en-US" dirty="0"/>
              <a:t>구현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B646DD-3871-1B80-2DCF-13FC69B176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 smtClean="0"/>
              <a:t>Naïve Attention with GPU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C7B68F-818E-6FD3-DFE3-4C2F96E50269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430C9EA3-2D5B-5FAF-EB3A-76E56511D4CC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7889" y="7885912"/>
            <a:ext cx="8443583" cy="3446780"/>
          </a:xfrm>
        </p:spPr>
        <p:txBody>
          <a:bodyPr/>
          <a:lstStyle/>
          <a:p>
            <a:r>
              <a:rPr lang="en-US" altLang="ko-KR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Global Memory</a:t>
            </a:r>
            <a:r>
              <a:rPr lang="ko-KR" altLang="en-US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읽기</a:t>
            </a:r>
            <a:r>
              <a:rPr lang="en-US" altLang="ko-KR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쓰기 자주 발생</a:t>
            </a:r>
            <a:endParaRPr lang="en-US" altLang="ko-KR" sz="48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37404" y="3450565"/>
            <a:ext cx="10621992" cy="1006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__global__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naive_attention_kernel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Q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K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Score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row =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blockIdx.x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blockDim.x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threadIdx.x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(row &gt;=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algn="l"/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[Step 1] Q * K^T 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연산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-&gt; Score 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행렬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(Global Memory)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에 저장</a:t>
            </a:r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max_val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-1e20f;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j = 0; j &lt;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j++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sum = 0.0f;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d = 0; d &lt;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d++)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sum +=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Q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[row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d]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K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[j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d];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Score 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저장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(Global Memory Write 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발생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!)</a:t>
            </a:r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s = sum /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sqrtf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((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Score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[row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j] = s;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(s &gt;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max_val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max_val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s;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[Step 2] </a:t>
            </a:r>
            <a:r>
              <a:rPr lang="en-US" altLang="ko-KR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Softmax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계산</a:t>
            </a:r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sum_exp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0.0f;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j = 0; j &lt;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j++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Score 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읽기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(Global Memory Read!)</a:t>
            </a:r>
            <a:endParaRPr lang="en-US" altLang="ko-KR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expf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Score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[row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j] -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max_val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Score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[row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j] =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확률값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덮어쓰기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(Global Write!)</a:t>
            </a:r>
            <a:endParaRPr lang="en-US" altLang="ko-KR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sum_exp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+=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val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US" altLang="ko-KR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2192000" y="3307712"/>
            <a:ext cx="1219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[Step 3] P * V 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연산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-&gt; Output</a:t>
            </a:r>
            <a:endParaRPr lang="en-US" altLang="ko-KR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d = 0; d &lt;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d++)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acc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0.0f;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j = 0; j &lt;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j++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Score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와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 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읽기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(Global Memory Read!)</a:t>
            </a:r>
            <a:endParaRPr lang="en-US" altLang="ko-KR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pt-BR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acc += (</a:t>
            </a:r>
            <a:r>
              <a:rPr lang="pt-BR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Score</a:t>
            </a:r>
            <a:r>
              <a:rPr lang="pt-BR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[row * </a:t>
            </a:r>
            <a:r>
              <a:rPr lang="pt-BR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pt-BR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j] / sum_exp) * </a:t>
            </a:r>
            <a:r>
              <a:rPr lang="pt-BR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pt-BR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[j * </a:t>
            </a:r>
            <a:r>
              <a:rPr lang="pt-BR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pt-BR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d];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[row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d] =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acc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DF9B5E-6A55-230C-C177-9C297CBE04D6}"/>
              </a:ext>
            </a:extLst>
          </p:cNvPr>
          <p:cNvSpPr/>
          <p:nvPr/>
        </p:nvSpPr>
        <p:spPr>
          <a:xfrm>
            <a:off x="2183368" y="7885912"/>
            <a:ext cx="6425794" cy="1430616"/>
          </a:xfrm>
          <a:prstGeom prst="rect">
            <a:avLst/>
          </a:prstGeom>
          <a:solidFill>
            <a:srgbClr val="FFFF00">
              <a:alpha val="26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DF9B5E-6A55-230C-C177-9C297CBE04D6}"/>
              </a:ext>
            </a:extLst>
          </p:cNvPr>
          <p:cNvSpPr/>
          <p:nvPr/>
        </p:nvSpPr>
        <p:spPr>
          <a:xfrm>
            <a:off x="2183368" y="11073900"/>
            <a:ext cx="9376028" cy="1693194"/>
          </a:xfrm>
          <a:prstGeom prst="rect">
            <a:avLst/>
          </a:prstGeom>
          <a:solidFill>
            <a:srgbClr val="FFFF00">
              <a:alpha val="26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DF9B5E-6A55-230C-C177-9C297CBE04D6}"/>
              </a:ext>
            </a:extLst>
          </p:cNvPr>
          <p:cNvSpPr/>
          <p:nvPr/>
        </p:nvSpPr>
        <p:spPr>
          <a:xfrm>
            <a:off x="13276938" y="4478079"/>
            <a:ext cx="9307017" cy="1905468"/>
          </a:xfrm>
          <a:prstGeom prst="rect">
            <a:avLst/>
          </a:prstGeom>
          <a:solidFill>
            <a:srgbClr val="FFFF00">
              <a:alpha val="26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7969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E6A7-87FE-4840-2632-37319213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82731-B8C2-BC1A-81B1-22632CDE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</a:t>
            </a:r>
            <a:r>
              <a:rPr lang="ko-KR" altLang="en-US" dirty="0"/>
              <a:t>구현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B646DD-3871-1B80-2DCF-13FC69B176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 smtClean="0"/>
              <a:t>Flash Attention with GPU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C7B68F-818E-6FD3-DFE3-4C2F96E50269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430C9EA3-2D5B-5FAF-EB3A-76E56511D4CC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1046" y="8215236"/>
            <a:ext cx="11077322" cy="5957964"/>
          </a:xfrm>
        </p:spPr>
        <p:txBody>
          <a:bodyPr>
            <a:normAutofit/>
          </a:bodyPr>
          <a:lstStyle/>
          <a:p>
            <a:r>
              <a:rPr lang="ko-KR" altLang="en-US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한번 </a:t>
            </a:r>
            <a:r>
              <a:rPr lang="en-US" altLang="ko-KR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SRAM</a:t>
            </a:r>
            <a:r>
              <a:rPr lang="ko-KR" altLang="en-US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</a:t>
            </a:r>
            <a:r>
              <a:rPr lang="ko-KR" altLang="en-US" sz="4800" dirty="0" err="1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로드된</a:t>
            </a:r>
            <a:r>
              <a:rPr lang="ko-KR" altLang="en-US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K, V  </a:t>
            </a:r>
            <a:r>
              <a:rPr lang="ko-KR" altLang="en-US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타일 데이터를 </a:t>
            </a:r>
            <a:r>
              <a:rPr lang="ko-KR" altLang="en-US" sz="4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블록 내 </a:t>
            </a:r>
            <a:r>
              <a:rPr lang="ko-KR" altLang="en-US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스레드가 공유 → </a:t>
            </a:r>
            <a:r>
              <a:rPr lang="ko-KR" altLang="en-US" sz="4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읽기 </a:t>
            </a:r>
            <a:r>
              <a:rPr lang="ko-KR" altLang="en-US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횟수 줄임</a:t>
            </a:r>
            <a:endParaRPr lang="en-US" altLang="ko-KR" sz="4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48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4800" dirty="0" err="1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NxN</a:t>
            </a:r>
            <a:r>
              <a:rPr lang="en-US" altLang="ko-KR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크기의 </a:t>
            </a:r>
            <a:r>
              <a:rPr lang="en-US" altLang="ko-KR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Score </a:t>
            </a:r>
            <a:r>
              <a:rPr lang="ko-KR" altLang="en-US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행렬 저장 </a:t>
            </a:r>
            <a:r>
              <a:rPr lang="en-US" altLang="ko-KR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X</a:t>
            </a:r>
          </a:p>
          <a:p>
            <a:r>
              <a:rPr lang="ko-KR" altLang="en-US" sz="4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최종 결과 계산하기 위한 부분합 변수</a:t>
            </a:r>
            <a:endParaRPr lang="en-US" altLang="ko-KR" sz="48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48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206500" y="3307712"/>
            <a:ext cx="12192000" cy="8586966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__global__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flash_attention_kernel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Q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K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__shared__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s_K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TILE_SIZE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][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HEAD_DIM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__shared__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s_V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TILE_SIZE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][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HEAD_DIM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pPr algn="l"/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row =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blockIdx.x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blockDim.x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threadIdx.x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algn="l"/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ko-KR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 smtClean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유효한 행 범위 체크</a:t>
            </a:r>
            <a:endParaRPr lang="ko-KR" altLang="en-US" dirty="0" smtClean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(row &gt;=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algn="l"/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Q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는 레지스터에 </a:t>
            </a:r>
            <a:r>
              <a:rPr lang="ko-KR" altLang="en-US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캐싱</a:t>
            </a:r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q_reg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[128];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d = 0; d &lt;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d++)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q_reg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[d] =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Q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[row *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d];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Online </a:t>
            </a:r>
            <a:r>
              <a:rPr lang="en-US" altLang="ko-KR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Softmax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변수</a:t>
            </a:r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m = -1e20f;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max</a:t>
            </a:r>
            <a:endParaRPr lang="en-US" altLang="ko-KR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l = 0.0f;  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sum</a:t>
            </a:r>
            <a:endParaRPr lang="en-US" altLang="ko-KR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acc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[128] = { 0.0f };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output accumulator</a:t>
            </a:r>
            <a:endParaRPr lang="en-US" altLang="ko-KR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num_tiles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(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TILE_SIZE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- 1) / 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TILE_SIZE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algn="l"/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3398500" y="3182679"/>
            <a:ext cx="12192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타일 루프</a:t>
            </a:r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t = 0; t &lt;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num_tiles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t++)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col = t * 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TILE_SIZE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threadIdx.x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algn="l"/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smtClean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Load K, V to Shared Memory</a:t>
            </a:r>
            <a:endParaRPr lang="en-US" altLang="ko-KR" dirty="0" smtClean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(col &lt; </a:t>
            </a:r>
            <a:r>
              <a:rPr lang="en-US" altLang="ko-KR" dirty="0" smtClean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d = 0; d &lt; </a:t>
            </a:r>
            <a:r>
              <a:rPr lang="en-US" altLang="ko-KR" dirty="0" smtClean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d++) {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s_K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threadIdx.x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][d] = </a:t>
            </a:r>
            <a:r>
              <a:rPr lang="en-US" altLang="ko-KR" dirty="0" smtClean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K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[col * </a:t>
            </a:r>
            <a:r>
              <a:rPr lang="en-US" altLang="ko-KR" dirty="0" smtClean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d];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s_V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threadIdx.x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][d] = </a:t>
            </a:r>
            <a:r>
              <a:rPr lang="en-US" altLang="ko-KR" dirty="0" smtClean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[col * </a:t>
            </a:r>
            <a:r>
              <a:rPr lang="en-US" altLang="ko-KR" dirty="0" smtClean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d];</a:t>
            </a:r>
          </a:p>
          <a:p>
            <a:pPr algn="l"/>
            <a:r>
              <a:rPr lang="ko-KR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ko-KR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DF9B5E-6A55-230C-C177-9C297CBE04D6}"/>
              </a:ext>
            </a:extLst>
          </p:cNvPr>
          <p:cNvSpPr/>
          <p:nvPr/>
        </p:nvSpPr>
        <p:spPr>
          <a:xfrm>
            <a:off x="1859832" y="4026571"/>
            <a:ext cx="7074617" cy="903015"/>
          </a:xfrm>
          <a:prstGeom prst="rect">
            <a:avLst/>
          </a:prstGeom>
          <a:solidFill>
            <a:srgbClr val="FFFF00">
              <a:alpha val="26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DF9B5E-6A55-230C-C177-9C297CBE04D6}"/>
              </a:ext>
            </a:extLst>
          </p:cNvPr>
          <p:cNvSpPr/>
          <p:nvPr/>
        </p:nvSpPr>
        <p:spPr>
          <a:xfrm>
            <a:off x="15792451" y="5772150"/>
            <a:ext cx="5924550" cy="952500"/>
          </a:xfrm>
          <a:prstGeom prst="rect">
            <a:avLst/>
          </a:prstGeom>
          <a:solidFill>
            <a:srgbClr val="FFFF00">
              <a:alpha val="26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4DF9B5E-6A55-230C-C177-9C297CBE04D6}"/>
              </a:ext>
            </a:extLst>
          </p:cNvPr>
          <p:cNvSpPr/>
          <p:nvPr/>
        </p:nvSpPr>
        <p:spPr>
          <a:xfrm>
            <a:off x="1859833" y="9152102"/>
            <a:ext cx="7455618" cy="1573048"/>
          </a:xfrm>
          <a:prstGeom prst="rect">
            <a:avLst/>
          </a:prstGeom>
          <a:solidFill>
            <a:srgbClr val="EF949E">
              <a:alpha val="26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4DF9B5E-6A55-230C-C177-9C297CBE04D6}"/>
              </a:ext>
            </a:extLst>
          </p:cNvPr>
          <p:cNvSpPr/>
          <p:nvPr/>
        </p:nvSpPr>
        <p:spPr>
          <a:xfrm>
            <a:off x="11041045" y="8215235"/>
            <a:ext cx="10675955" cy="1557415"/>
          </a:xfrm>
          <a:prstGeom prst="rect">
            <a:avLst/>
          </a:prstGeom>
          <a:solidFill>
            <a:srgbClr val="FFFF00">
              <a:alpha val="26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DF9B5E-6A55-230C-C177-9C297CBE04D6}"/>
              </a:ext>
            </a:extLst>
          </p:cNvPr>
          <p:cNvSpPr/>
          <p:nvPr/>
        </p:nvSpPr>
        <p:spPr>
          <a:xfrm>
            <a:off x="11041045" y="10931378"/>
            <a:ext cx="8999555" cy="1926602"/>
          </a:xfrm>
          <a:prstGeom prst="rect">
            <a:avLst/>
          </a:prstGeom>
          <a:solidFill>
            <a:srgbClr val="EF949E">
              <a:alpha val="26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4DF9B5E-6A55-230C-C177-9C297CBE04D6}"/>
              </a:ext>
            </a:extLst>
          </p:cNvPr>
          <p:cNvSpPr/>
          <p:nvPr/>
        </p:nvSpPr>
        <p:spPr>
          <a:xfrm>
            <a:off x="1859832" y="6945993"/>
            <a:ext cx="4693368" cy="1706875"/>
          </a:xfrm>
          <a:prstGeom prst="rect">
            <a:avLst/>
          </a:prstGeom>
          <a:solidFill>
            <a:srgbClr val="91ACE0">
              <a:alpha val="26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6644787" y="6987550"/>
            <a:ext cx="4486765" cy="509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altLang="ko-KR" sz="2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GLOBAL MEMORY READ</a:t>
            </a:r>
          </a:p>
        </p:txBody>
      </p:sp>
      <p:sp>
        <p:nvSpPr>
          <p:cNvPr id="23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19473617" y="6794604"/>
            <a:ext cx="4486765" cy="509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altLang="ko-KR" sz="2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GLOBAL MEMORY READ</a:t>
            </a:r>
          </a:p>
        </p:txBody>
      </p:sp>
    </p:spTree>
    <p:extLst>
      <p:ext uri="{BB962C8B-B14F-4D97-AF65-F5344CB8AC3E}">
        <p14:creationId xmlns:p14="http://schemas.microsoft.com/office/powerpoint/2010/main" val="101322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E6A7-87FE-4840-2632-37319213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82731-B8C2-BC1A-81B1-22632CDE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</a:t>
            </a:r>
            <a:r>
              <a:rPr lang="ko-KR" altLang="en-US" dirty="0"/>
              <a:t>구현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B646DD-3871-1B80-2DCF-13FC69B176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 smtClean="0"/>
              <a:t>Flash Attention with GPU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C7B68F-818E-6FD3-DFE3-4C2F96E50269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430C9EA3-2D5B-5FAF-EB3A-76E56511D4CC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43775" y="3467100"/>
            <a:ext cx="6716486" cy="1049379"/>
          </a:xfrm>
        </p:spPr>
        <p:txBody>
          <a:bodyPr>
            <a:normAutofit lnSpcReduction="10000"/>
          </a:bodyPr>
          <a:lstStyle/>
          <a:p>
            <a:r>
              <a:rPr lang="ko-KR" altLang="en-US" sz="32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최댓값</a:t>
            </a:r>
            <a:r>
              <a:rPr lang="en-US" altLang="ko-KR" sz="32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(m)</a:t>
            </a:r>
            <a:r>
              <a:rPr lang="ko-KR" altLang="en-US" sz="32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변하면 </a:t>
            </a:r>
            <a:r>
              <a:rPr lang="ko-KR" altLang="en-US" sz="3200" dirty="0" err="1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계산해둔</a:t>
            </a:r>
            <a:r>
              <a:rPr lang="ko-KR" altLang="en-US" sz="32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3200" dirty="0" err="1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누적값을</a:t>
            </a:r>
            <a:r>
              <a:rPr lang="ko-KR" altLang="en-US" sz="32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새로운 최댓값 기준으로 업데이트</a:t>
            </a:r>
            <a:endParaRPr lang="en-US" altLang="ko-KR" sz="32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-330323" y="3441062"/>
            <a:ext cx="9214344" cy="8956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dirty="0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	else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{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d = 0; d &lt; </a:t>
            </a:r>
            <a:r>
              <a:rPr lang="en-US" altLang="ko-KR" dirty="0" smtClean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d++) {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s_K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threadIdx.x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][d] = 0.0f;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s_V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threadIdx.x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][d] = 0.0f;</a:t>
            </a:r>
          </a:p>
          <a:p>
            <a:pPr algn="l"/>
            <a:r>
              <a:rPr lang="ko-KR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ko-KR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__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syncthreads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pPr algn="l"/>
            <a:endParaRPr lang="ko-KR" altLang="en-US" dirty="0" smtClean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smtClean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Compute QK^T (Tile)</a:t>
            </a:r>
            <a:endParaRPr lang="en-US" altLang="ko-KR" dirty="0" smtClean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s_tile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dirty="0" smtClean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TILE_SIZE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j = 0; j &lt; </a:t>
            </a:r>
            <a:r>
              <a:rPr lang="en-US" altLang="ko-KR" dirty="0" smtClean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TILE_SIZE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j++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score = 0.0f;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d = 0; d &lt; </a:t>
            </a:r>
            <a:r>
              <a:rPr lang="en-US" altLang="ko-KR" dirty="0" smtClean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d++) {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score +=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q_reg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[d] *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s_K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[j][d];</a:t>
            </a:r>
          </a:p>
          <a:p>
            <a:pPr algn="l"/>
            <a:r>
              <a:rPr lang="ko-KR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s_tile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[j] = score /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sqrtf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((</a:t>
            </a:r>
            <a:r>
              <a:rPr lang="en-US" altLang="ko-KR" dirty="0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r>
              <a:rPr lang="en-US" altLang="ko-KR" dirty="0" smtClean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pPr algn="l"/>
            <a:r>
              <a:rPr lang="ko-KR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endParaRPr lang="ko-KR" altLang="en-US" dirty="0" smtClean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smtClean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Online </a:t>
            </a:r>
            <a:r>
              <a:rPr lang="en-US" altLang="ko-KR" dirty="0" err="1" smtClean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Softmax</a:t>
            </a:r>
            <a:r>
              <a:rPr lang="en-US" altLang="ko-KR" dirty="0" smtClean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Update</a:t>
            </a:r>
            <a:endParaRPr lang="en-US" altLang="ko-KR" dirty="0" smtClean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m_block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-1e20f;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j = 0; j &lt; </a:t>
            </a:r>
            <a:r>
              <a:rPr lang="en-US" altLang="ko-KR" dirty="0" smtClean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TILE_SIZE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j++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(t * </a:t>
            </a:r>
            <a:r>
              <a:rPr lang="en-US" altLang="ko-KR" dirty="0" smtClean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TILE_SIZE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j &lt; </a:t>
            </a:r>
            <a:r>
              <a:rPr lang="en-US" altLang="ko-KR" dirty="0" smtClean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pPr algn="l"/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m_block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fmaxf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m_block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s_tile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[j]);</a:t>
            </a:r>
          </a:p>
          <a:p>
            <a:pPr algn="l"/>
            <a:r>
              <a:rPr lang="ko-KR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849445" y="3182679"/>
            <a:ext cx="12192000" cy="96949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m_new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fmaxf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(m,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m_block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correction =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expf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(m -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m_new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pPr algn="l"/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d = 0; d &lt;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d++)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acc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[d] *= correction;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l *= correction;</a:t>
            </a:r>
          </a:p>
          <a:p>
            <a:pPr algn="l"/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Compute PV (Tile)</a:t>
            </a:r>
            <a:endParaRPr lang="en-US" altLang="ko-KR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j = 0; j &lt; 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TILE_SIZE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j++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(t * </a:t>
            </a:r>
            <a:r>
              <a:rPr lang="en-US" altLang="ko-KR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TILE_SIZE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j &lt;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p =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expf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s_tile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[j] -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m_new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l += p;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d = 0; d &lt;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d++) {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acc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[d] += p *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s_V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[j][d];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m =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m_new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__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syncthreads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Write Output</a:t>
            </a:r>
            <a:endParaRPr lang="en-US" altLang="ko-KR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d = 0; d &lt; </a:t>
            </a:r>
            <a:r>
              <a:rPr lang="en-US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d++) {</a:t>
            </a:r>
          </a:p>
          <a:p>
            <a:pPr algn="l"/>
            <a:r>
              <a:rPr lang="pt-BR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pt-BR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</a:t>
            </a:r>
            <a:r>
              <a:rPr lang="pt-BR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[row * </a:t>
            </a:r>
            <a:r>
              <a:rPr lang="pt-BR" altLang="ko-KR" dirty="0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</a:t>
            </a:r>
            <a:r>
              <a:rPr lang="pt-BR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d] = acc[d] / l;</a:t>
            </a:r>
          </a:p>
          <a:p>
            <a:pPr algn="l"/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algn="l"/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DF9B5E-6A55-230C-C177-9C297CBE04D6}"/>
              </a:ext>
            </a:extLst>
          </p:cNvPr>
          <p:cNvSpPr/>
          <p:nvPr/>
        </p:nvSpPr>
        <p:spPr>
          <a:xfrm>
            <a:off x="14519667" y="11086866"/>
            <a:ext cx="5734049" cy="1390884"/>
          </a:xfrm>
          <a:prstGeom prst="rect">
            <a:avLst/>
          </a:prstGeom>
          <a:solidFill>
            <a:srgbClr val="FFFF00">
              <a:alpha val="26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DF9B5E-6A55-230C-C177-9C297CBE04D6}"/>
              </a:ext>
            </a:extLst>
          </p:cNvPr>
          <p:cNvSpPr/>
          <p:nvPr/>
        </p:nvSpPr>
        <p:spPr>
          <a:xfrm>
            <a:off x="9114095" y="3467100"/>
            <a:ext cx="5572598" cy="1128288"/>
          </a:xfrm>
          <a:prstGeom prst="rect">
            <a:avLst/>
          </a:prstGeom>
          <a:solidFill>
            <a:srgbClr val="EF949E">
              <a:alpha val="26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텍스트 개체 틀 4">
                <a:extLst>
                  <a:ext uri="{FF2B5EF4-FFF2-40B4-BE49-F238E27FC236}">
                    <a16:creationId xmlns:a16="http://schemas.microsoft.com/office/drawing/2014/main" id="{49F29991-BC2B-0931-31F8-206BB08299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19667" y="8930260"/>
                <a:ext cx="8657833" cy="369570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 fontScale="92500" lnSpcReduction="20000"/>
              </a:bodyPr>
              <a:lstStyle>
                <a:lvl1pPr marL="0" marR="0" indent="0" algn="l" defTabSz="825500" rtl="0" latinLnBrk="0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5500" b="0" i="0" u="none" strike="noStrike" cap="none" spc="-55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457200" algn="l" defTabSz="825500" rtl="0" latinLnBrk="0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5500" b="0" i="0" u="none" strike="noStrike" cap="none" spc="-55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914400" algn="l" defTabSz="825500" rtl="0" latinLnBrk="0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5500" b="0" i="0" u="none" strike="noStrike" cap="none" spc="-55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1371600" algn="l" defTabSz="825500" rtl="0" latinLnBrk="0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5500" b="0" i="0" u="none" strike="noStrike" cap="none" spc="-55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1828800" algn="l" defTabSz="825500" rtl="0" latinLnBrk="0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5500" b="0" i="0" u="none" strike="noStrike" cap="none" spc="-55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3657600" marR="0" indent="-609600" algn="l" defTabSz="2438338" rtl="0" latinLnBrk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4267200" marR="0" indent="-609600" algn="l" defTabSz="2438338" rtl="0" latinLnBrk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4876800" marR="0" indent="-609600" algn="l" defTabSz="2438338" rtl="0" latinLnBrk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5486400" marR="0" indent="-609600" algn="l" defTabSz="2438338" rtl="0" latinLnBrk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hangingPunct="1"/>
                <a14:m>
                  <m:oMath xmlns:m="http://schemas.openxmlformats.org/officeDocument/2006/math">
                    <m:r>
                      <a:rPr lang="en-US" altLang="ko-KR" sz="4400" b="0" i="1" u="sng" smtClean="0">
                        <a:latin typeface="Cambria Math" panose="02040503050406030204" pitchFamily="18" charset="0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m:t>𝑄</m:t>
                    </m:r>
                    <m:sSup>
                      <m:sSupPr>
                        <m:ctrlPr>
                          <a:rPr lang="en-US" altLang="ko-KR" sz="4400" b="0" i="1" u="sng" smtClean="0">
                            <a:latin typeface="Cambria Math" panose="02040503050406030204" pitchFamily="18" charset="0"/>
                            <a:ea typeface="Pretendard Light" panose="02000403000000020004" pitchFamily="50" charset="-127"/>
                            <a:cs typeface="Pretendard Light" panose="02000403000000020004" pitchFamily="50" charset="-127"/>
                          </a:rPr>
                        </m:ctrlPr>
                      </m:sSupPr>
                      <m:e>
                        <m:r>
                          <a:rPr lang="en-US" altLang="ko-KR" sz="4400" b="0" i="1" u="sng" smtClean="0">
                            <a:latin typeface="Cambria Math" panose="02040503050406030204" pitchFamily="18" charset="0"/>
                            <a:ea typeface="Pretendard Light" panose="02000403000000020004" pitchFamily="50" charset="-127"/>
                            <a:cs typeface="Pretendard Light" panose="02000403000000020004" pitchFamily="50" charset="-127"/>
                          </a:rPr>
                          <m:t>𝐾</m:t>
                        </m:r>
                      </m:e>
                      <m:sup>
                        <m:r>
                          <a:rPr lang="en-US" altLang="ko-KR" sz="4400" b="0" i="1" u="sng" smtClean="0">
                            <a:latin typeface="Cambria Math" panose="02040503050406030204" pitchFamily="18" charset="0"/>
                            <a:ea typeface="Pretendard Light" panose="02000403000000020004" pitchFamily="50" charset="-127"/>
                            <a:cs typeface="Pretendard Light" panose="02000403000000020004" pitchFamily="50" charset="-127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sz="4400" u="sng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lang="ko-KR" altLang="en-US" sz="4400" u="sng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</a:t>
                </a:r>
                <a:r>
                  <a:rPr lang="en-US" altLang="ko-KR" sz="4400" u="sng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Online </a:t>
                </a:r>
                <a:r>
                  <a:rPr lang="en-US" altLang="ko-KR" sz="4400" u="sng" dirty="0" err="1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Softmax</a:t>
                </a:r>
                <a:r>
                  <a:rPr lang="en-US" altLang="ko-KR" sz="4400" u="sng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lang="ko-KR" altLang="en-US" sz="4400" u="sng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</a:t>
                </a:r>
                <a:r>
                  <a:rPr lang="en-US" altLang="ko-KR" sz="4400" u="sng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PV</a:t>
                </a:r>
              </a:p>
              <a:p>
                <a:pPr hangingPunct="1"/>
                <a:r>
                  <a:rPr lang="ko-KR" altLang="en-US" sz="4400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계산하는 과정에서 발생하는 </a:t>
                </a:r>
                <a:endParaRPr lang="en-US" altLang="ko-KR" sz="4400" dirty="0" smtClean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hangingPunct="1"/>
                <a:r>
                  <a:rPr lang="en-US" altLang="ko-KR" sz="4400" u="sng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GLOBAL MEMORY IO</a:t>
                </a:r>
                <a:r>
                  <a:rPr lang="en-US" altLang="ko-KR" sz="4400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</a:t>
                </a:r>
              </a:p>
              <a:p>
                <a:pPr hangingPunct="1"/>
                <a:r>
                  <a:rPr lang="en-US" altLang="ko-KR" sz="4400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1. Q, K, V</a:t>
                </a:r>
                <a:r>
                  <a:rPr lang="ko-KR" altLang="en-US" sz="4400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</a:t>
                </a:r>
                <a:r>
                  <a:rPr lang="en-US" altLang="ko-KR" sz="4400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SRAM</a:t>
                </a:r>
                <a:r>
                  <a:rPr lang="ko-KR" altLang="en-US" sz="4400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로드</a:t>
                </a:r>
                <a:endParaRPr lang="en-US" altLang="ko-KR" sz="4400" dirty="0" smtClean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hangingPunct="1"/>
                <a:r>
                  <a:rPr lang="en-US" altLang="ko-KR" sz="4400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2. </a:t>
                </a:r>
                <a:r>
                  <a:rPr lang="ko-KR" altLang="en-US" sz="4400" dirty="0" smtClean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결과 저장</a:t>
                </a:r>
                <a:endParaRPr lang="en-US" altLang="ko-KR" sz="4400" dirty="0" smtClean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mc:Choice>
        <mc:Fallback xmlns="">
          <p:sp>
            <p:nvSpPr>
              <p:cNvPr id="15" name="텍스트 개체 틀 4">
                <a:extLst>
                  <a:ext uri="{FF2B5EF4-FFF2-40B4-BE49-F238E27FC236}">
                    <a16:creationId xmlns:a16="http://schemas.microsoft.com/office/drawing/2014/main" id="{49F29991-BC2B-0931-31F8-206BB0829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9667" y="8930260"/>
                <a:ext cx="8657833" cy="3695700"/>
              </a:xfrm>
              <a:prstGeom prst="rect">
                <a:avLst/>
              </a:prstGeom>
              <a:blipFill>
                <a:blip r:embed="rId3"/>
                <a:stretch>
                  <a:fillRect l="-3028" t="-6106" b="-247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DF9B5E-6A55-230C-C177-9C297CBE04D6}"/>
              </a:ext>
            </a:extLst>
          </p:cNvPr>
          <p:cNvSpPr/>
          <p:nvPr/>
        </p:nvSpPr>
        <p:spPr>
          <a:xfrm>
            <a:off x="8934449" y="11620500"/>
            <a:ext cx="4649045" cy="419100"/>
          </a:xfrm>
          <a:prstGeom prst="rect">
            <a:avLst/>
          </a:prstGeom>
          <a:solidFill>
            <a:srgbClr val="91ACE0">
              <a:alpha val="26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9657011" y="12293726"/>
            <a:ext cx="4486765" cy="509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altLang="ko-KR" sz="28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GLOBAL MEMORY WRITE</a:t>
            </a:r>
          </a:p>
        </p:txBody>
      </p:sp>
    </p:spTree>
    <p:extLst>
      <p:ext uri="{BB962C8B-B14F-4D97-AF65-F5344CB8AC3E}">
        <p14:creationId xmlns:p14="http://schemas.microsoft.com/office/powerpoint/2010/main" val="202797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E6A7-87FE-4840-2632-37319213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82731-B8C2-BC1A-81B1-22632CDE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실험 결과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B646DD-3871-1B80-2DCF-13FC69B176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 smtClean="0"/>
              <a:t>CPU vs Naïve vs Flash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C7B68F-818E-6FD3-DFE3-4C2F96E50269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430C9EA3-2D5B-5FAF-EB3A-76E56511D4CC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429868"/>
              </p:ext>
            </p:extLst>
          </p:nvPr>
        </p:nvGraphicFramePr>
        <p:xfrm>
          <a:off x="671664" y="3307712"/>
          <a:ext cx="10991253" cy="8166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0179">
                  <a:extLst>
                    <a:ext uri="{9D8B030D-6E8A-4147-A177-3AD203B41FA5}">
                      <a16:colId xmlns:a16="http://schemas.microsoft.com/office/drawing/2014/main" val="3214015624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572541547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2464901377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881390447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3341612209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1884775930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4225526227"/>
                    </a:ext>
                  </a:extLst>
                </a:gridCol>
              </a:tblGrid>
              <a:tr h="81661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</a:t>
                      </a:r>
                    </a:p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MATRIX</a:t>
                      </a:r>
                    </a:p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HEAD_DIM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TILE_SIZE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 Naive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 Flash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1753420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1MB</a:t>
                      </a:r>
                      <a:endParaRPr lang="en-US" altLang="ko-KR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35.38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72.44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29.06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5030776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47.19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85.81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28.93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3844156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33.92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60.82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27.76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8898343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altLang="ko-KR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69.21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55.53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53.33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9193501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52.40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9541277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67.84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57.14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51.70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5767964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altLang="ko-KR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141.94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110.78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116.69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8569071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152.36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110.72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99.41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3483504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altLang="ko-KR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1782755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023588"/>
              </p:ext>
            </p:extLst>
          </p:nvPr>
        </p:nvGraphicFramePr>
        <p:xfrm>
          <a:off x="12317325" y="3510472"/>
          <a:ext cx="10991253" cy="8166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0179">
                  <a:extLst>
                    <a:ext uri="{9D8B030D-6E8A-4147-A177-3AD203B41FA5}">
                      <a16:colId xmlns:a16="http://schemas.microsoft.com/office/drawing/2014/main" val="3214015624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572541547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2464901377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881390447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3341612209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1884775930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4225526227"/>
                    </a:ext>
                  </a:extLst>
                </a:gridCol>
              </a:tblGrid>
              <a:tr h="816610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</a:t>
                      </a:r>
                    </a:p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MATRIX</a:t>
                      </a:r>
                    </a:p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HEAD_DIM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TILE_SIZE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 Naive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 Flash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1753420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4MB</a:t>
                      </a:r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130.73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60.28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54.95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5030776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130.68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60.15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52.85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3844156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132.71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54.13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8898343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27.97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115.25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102.25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9193501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332.19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116.43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96.41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9541277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256.64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116.90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98.34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5767964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563.06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215.28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187.66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8569071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537.22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225.18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178.12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3483504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1782755"/>
                  </a:ext>
                </a:extLst>
              </a:tr>
            </a:tbl>
          </a:graphicData>
        </a:graphic>
      </p:graphicFrame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671664" y="11763494"/>
            <a:ext cx="22505836" cy="795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ko-KR" altLang="en-US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실행 시간 비교 </a:t>
            </a:r>
            <a:r>
              <a:rPr lang="en-US" altLang="ko-KR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CPU &gt; Naïve &gt; Flash</a:t>
            </a:r>
            <a:endParaRPr lang="en-US" altLang="ko-KR" sz="44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671664" y="12558574"/>
            <a:ext cx="22505836" cy="795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endParaRPr lang="en-US" altLang="ko-KR" sz="44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671664" y="12539835"/>
            <a:ext cx="22505836" cy="795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en-US" altLang="ko-KR" sz="4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HEAD_DIM</a:t>
            </a:r>
            <a:r>
              <a:rPr lang="ko-KR" altLang="en-US" sz="4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 </a:t>
            </a:r>
            <a:r>
              <a:rPr lang="en-US" altLang="ko-KR" sz="4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TILE_SIZE </a:t>
            </a:r>
            <a:r>
              <a:rPr lang="ko-KR" altLang="en-US" sz="4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큰 경우에서 </a:t>
            </a:r>
            <a:r>
              <a:rPr lang="en-US" altLang="ko-KR" sz="4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GPU</a:t>
            </a:r>
            <a:r>
              <a:rPr lang="ko-KR" altLang="en-US" sz="4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계산에 실패</a:t>
            </a:r>
            <a:endParaRPr lang="en-US" altLang="ko-KR" sz="4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9026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E6A7-87FE-4840-2632-37319213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82731-B8C2-BC1A-81B1-22632CDE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실험 결과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B646DD-3871-1B80-2DCF-13FC69B176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 smtClean="0"/>
              <a:t>CPU vs Naïve vs Flash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C7B68F-818E-6FD3-DFE3-4C2F96E50269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430C9EA3-2D5B-5FAF-EB3A-76E56511D4CC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358860"/>
              </p:ext>
            </p:extLst>
          </p:nvPr>
        </p:nvGraphicFramePr>
        <p:xfrm>
          <a:off x="619905" y="3683000"/>
          <a:ext cx="10991253" cy="8166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0179">
                  <a:extLst>
                    <a:ext uri="{9D8B030D-6E8A-4147-A177-3AD203B41FA5}">
                      <a16:colId xmlns:a16="http://schemas.microsoft.com/office/drawing/2014/main" val="3214015624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572541547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2464901377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881390447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3341612209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1884775930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4225526227"/>
                    </a:ext>
                  </a:extLst>
                </a:gridCol>
              </a:tblGrid>
              <a:tr h="81661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</a:t>
                      </a:r>
                    </a:p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MATRIX</a:t>
                      </a:r>
                    </a:p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HEAD_DIM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TILE_SIZE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 Naive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 Flash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1753420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8192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256MB</a:t>
                      </a:r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2136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663.11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832.24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5030776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8278.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789.47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709.49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3844156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8873.47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552.02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720.91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8898343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16873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2483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9193501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16886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9541277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16530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5767964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34729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9699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8569071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34270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2172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8129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3483504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1782755"/>
                  </a:ext>
                </a:extLst>
              </a:tr>
            </a:tbl>
          </a:graphicData>
        </a:graphic>
      </p:graphicFrame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11437430" y="3683000"/>
            <a:ext cx="10456411" cy="795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ko-KR" altLang="en-US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실행 시간 비교 </a:t>
            </a:r>
            <a:r>
              <a:rPr lang="en-US" altLang="ko-KR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CPU &gt; Flash &gt; Naïve</a:t>
            </a:r>
            <a:endParaRPr lang="en-US" altLang="ko-KR" sz="44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12455345" y="4542943"/>
            <a:ext cx="11646857" cy="4806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ko-KR" altLang="en-US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동일하게 </a:t>
            </a:r>
            <a:r>
              <a:rPr lang="en-US" altLang="ko-KR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HEAD_DIM</a:t>
            </a:r>
            <a:r>
              <a:rPr lang="ko-KR" altLang="en-US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 </a:t>
            </a:r>
            <a:r>
              <a:rPr lang="en-US" altLang="ko-KR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TILE_SIZE </a:t>
            </a:r>
            <a:r>
              <a:rPr lang="ko-KR" altLang="en-US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큰 경우에서</a:t>
            </a:r>
            <a:endParaRPr lang="en-US" altLang="ko-KR" sz="44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hangingPunct="1"/>
            <a:r>
              <a:rPr lang="en-US" altLang="ko-KR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GPU</a:t>
            </a:r>
            <a:r>
              <a:rPr lang="ko-KR" altLang="en-US" sz="4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</a:t>
            </a:r>
            <a:r>
              <a:rPr lang="ko-KR" altLang="en-US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계산에 실패</a:t>
            </a:r>
            <a:endParaRPr lang="en-US" altLang="ko-KR" sz="44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031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E6A7-87FE-4840-2632-37319213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82731-B8C2-BC1A-81B1-22632CDE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실험 결과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B646DD-3871-1B80-2DCF-13FC69B176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 smtClean="0"/>
              <a:t>CPU vs Naïve vs Flash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C7B68F-818E-6FD3-DFE3-4C2F96E50269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430C9EA3-2D5B-5FAF-EB3A-76E56511D4CC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12192000" y="4059302"/>
            <a:ext cx="11530642" cy="8428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ko-KR" altLang="en-US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구현한 </a:t>
            </a:r>
            <a:r>
              <a:rPr lang="en-US" altLang="ko-KR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Flash Attention</a:t>
            </a:r>
            <a:r>
              <a:rPr lang="ko-KR" altLang="en-US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각 스레드가 </a:t>
            </a:r>
            <a:endParaRPr lang="en-US" altLang="ko-KR" sz="44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hangingPunct="1"/>
            <a:r>
              <a:rPr lang="en-US" altLang="ko-KR" sz="4400" dirty="0" err="1" smtClean="0"/>
              <a:t>q_reg</a:t>
            </a:r>
            <a:r>
              <a:rPr lang="en-US" altLang="ko-KR" sz="4400" dirty="0" smtClean="0"/>
              <a:t>[128]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와</a:t>
            </a:r>
            <a:r>
              <a:rPr lang="ko-KR" altLang="en-US" sz="4400" dirty="0" smtClean="0"/>
              <a:t> </a:t>
            </a:r>
            <a:r>
              <a:rPr lang="en-US" altLang="ko-KR" sz="4400" dirty="0" err="1"/>
              <a:t>acc</a:t>
            </a:r>
            <a:r>
              <a:rPr lang="en-US" altLang="ko-KR" sz="4400" dirty="0"/>
              <a:t>[128</a:t>
            </a:r>
            <a:r>
              <a:rPr lang="en-US" altLang="ko-KR" sz="4400" dirty="0" smtClean="0"/>
              <a:t>]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의 배열을 레지스터에 할당</a:t>
            </a:r>
            <a:endParaRPr lang="en-US" altLang="ko-KR" sz="4400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hangingPunct="1"/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→ </a:t>
            </a:r>
            <a:r>
              <a:rPr lang="en-US" altLang="ko-KR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GPU 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레지스터 용량 초과</a:t>
            </a:r>
            <a:endParaRPr lang="en-US" altLang="ko-KR" sz="4400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hangingPunct="1"/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→ </a:t>
            </a:r>
            <a:r>
              <a:rPr lang="en-US" altLang="ko-KR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VRAM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으로 데이터를 </a:t>
            </a:r>
            <a:r>
              <a:rPr lang="ko-KR" altLang="en-US" sz="4400" dirty="0" err="1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흘려보냄</a:t>
            </a:r>
            <a:endParaRPr lang="en-US" altLang="ko-KR" sz="4400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hangingPunct="1"/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→ </a:t>
            </a:r>
            <a:r>
              <a:rPr lang="en-US" altLang="ko-KR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Naïve Attention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보다 메모리 </a:t>
            </a:r>
            <a:r>
              <a:rPr lang="en-US" altLang="ko-KR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I/O 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더 많이 발생</a:t>
            </a:r>
            <a:endParaRPr lang="en-US" altLang="ko-KR" sz="44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hangingPunct="1"/>
            <a:endParaRPr lang="en-US" altLang="ko-KR" sz="4400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309354" y="12487406"/>
            <a:ext cx="14942147" cy="131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endParaRPr lang="en-US" altLang="ko-KR" sz="44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405018"/>
              </p:ext>
            </p:extLst>
          </p:nvPr>
        </p:nvGraphicFramePr>
        <p:xfrm>
          <a:off x="1090545" y="3682999"/>
          <a:ext cx="10565082" cy="5167702"/>
        </p:xfrm>
        <a:graphic>
          <a:graphicData uri="http://schemas.openxmlformats.org/drawingml/2006/table">
            <a:tbl>
              <a:tblPr/>
              <a:tblGrid>
                <a:gridCol w="3521694">
                  <a:extLst>
                    <a:ext uri="{9D8B030D-6E8A-4147-A177-3AD203B41FA5}">
                      <a16:colId xmlns:a16="http://schemas.microsoft.com/office/drawing/2014/main" val="3979216618"/>
                    </a:ext>
                  </a:extLst>
                </a:gridCol>
                <a:gridCol w="3521694">
                  <a:extLst>
                    <a:ext uri="{9D8B030D-6E8A-4147-A177-3AD203B41FA5}">
                      <a16:colId xmlns:a16="http://schemas.microsoft.com/office/drawing/2014/main" val="3501823729"/>
                    </a:ext>
                  </a:extLst>
                </a:gridCol>
                <a:gridCol w="3521694">
                  <a:extLst>
                    <a:ext uri="{9D8B030D-6E8A-4147-A177-3AD203B41FA5}">
                      <a16:colId xmlns:a16="http://schemas.microsoft.com/office/drawing/2014/main" val="801028764"/>
                    </a:ext>
                  </a:extLst>
                </a:gridCol>
              </a:tblGrid>
              <a:tr h="914734">
                <a:tc>
                  <a:txBody>
                    <a:bodyPr/>
                    <a:lstStyle/>
                    <a:p>
                      <a:pPr rtl="0"/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시퀀스 길이 </a:t>
                      </a:r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en-US" sz="2400" b="0" dirty="0">
                          <a:solidFill>
                            <a:srgbClr val="1F1F1F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N)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Naive </a:t>
                      </a:r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대비 </a:t>
                      </a:r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Flash </a:t>
                      </a:r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속도 향상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2400" b="0" dirty="0" smtClean="0">
                          <a:solidFill>
                            <a:srgbClr val="1F1F1F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분석</a:t>
                      </a:r>
                      <a:endParaRPr lang="ko-KR" altLang="en-US" sz="2400" b="0" dirty="0">
                        <a:solidFill>
                          <a:srgbClr val="1F1F1F"/>
                        </a:solidFill>
                        <a:effectLst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5837918"/>
                  </a:ext>
                </a:extLst>
              </a:tr>
              <a:tr h="1417656">
                <a:tc>
                  <a:txBody>
                    <a:bodyPr/>
                    <a:lstStyle/>
                    <a:p>
                      <a:pPr rtl="0"/>
                      <a:r>
                        <a:rPr lang="en-US" sz="2400" b="0" dirty="0" smtClean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512</a:t>
                      </a:r>
                      <a:endParaRPr lang="en-US" sz="2400" b="0" dirty="0">
                        <a:solidFill>
                          <a:srgbClr val="1F1F1F"/>
                        </a:solidFill>
                        <a:effectLst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1.62</a:t>
                      </a:r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배 </a:t>
                      </a:r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(</a:t>
                      </a:r>
                      <a:r>
                        <a:rPr 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Flash </a:t>
                      </a:r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우세</a:t>
                      </a:r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데이터 크기가 작을 때 </a:t>
                      </a:r>
                      <a:endParaRPr lang="en-US" altLang="ko-KR" sz="2400" b="0" dirty="0" smtClean="0">
                        <a:solidFill>
                          <a:srgbClr val="1F1F1F"/>
                        </a:solidFill>
                        <a:effectLst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rtl="0"/>
                      <a:r>
                        <a:rPr lang="en-US" altLang="ko-KR" sz="2400" b="0" dirty="0" smtClean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Tiling </a:t>
                      </a:r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효과가 잘 나타남</a:t>
                      </a:r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920851"/>
                  </a:ext>
                </a:extLst>
              </a:tr>
              <a:tr h="1417656">
                <a:tc>
                  <a:txBody>
                    <a:bodyPr/>
                    <a:lstStyle/>
                    <a:p>
                      <a:pPr rtl="0"/>
                      <a:r>
                        <a:rPr lang="en-US" sz="2400" b="0" dirty="0" smtClean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1024</a:t>
                      </a:r>
                      <a:endParaRPr lang="en-US" sz="2400" b="0" dirty="0">
                        <a:solidFill>
                          <a:srgbClr val="1F1F1F"/>
                        </a:solidFill>
                        <a:effectLst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1.16</a:t>
                      </a:r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배 </a:t>
                      </a:r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(</a:t>
                      </a:r>
                      <a:r>
                        <a:rPr 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Flash </a:t>
                      </a:r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우세</a:t>
                      </a:r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여전히 </a:t>
                      </a:r>
                      <a:r>
                        <a:rPr 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Flash Attention</a:t>
                      </a:r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이 </a:t>
                      </a:r>
                      <a:r>
                        <a:rPr lang="ko-KR" altLang="en-US" sz="2400" b="0" dirty="0" smtClean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효율적</a:t>
                      </a:r>
                      <a:endParaRPr lang="en-US" altLang="ko-KR" sz="2400" b="0" dirty="0">
                        <a:solidFill>
                          <a:srgbClr val="1F1F1F"/>
                        </a:solidFill>
                        <a:effectLst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6146958"/>
                  </a:ext>
                </a:extLst>
              </a:tr>
              <a:tr h="1417656">
                <a:tc>
                  <a:txBody>
                    <a:bodyPr/>
                    <a:lstStyle/>
                    <a:p>
                      <a:pPr rtl="0"/>
                      <a:r>
                        <a:rPr lang="en-US" sz="2400" b="0" dirty="0" smtClean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8192</a:t>
                      </a:r>
                      <a:endParaRPr lang="en-US" sz="2400" b="0" dirty="0">
                        <a:solidFill>
                          <a:srgbClr val="1F1F1F"/>
                        </a:solidFill>
                        <a:effectLst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0.61</a:t>
                      </a:r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배 </a:t>
                      </a:r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(</a:t>
                      </a:r>
                      <a:r>
                        <a:rPr 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Naive </a:t>
                      </a:r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우세</a:t>
                      </a:r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Flash Attention</a:t>
                      </a:r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의 </a:t>
                      </a:r>
                      <a:endParaRPr lang="en-US" altLang="ko-KR" sz="2400" b="0" dirty="0" smtClean="0">
                        <a:solidFill>
                          <a:srgbClr val="1F1F1F"/>
                        </a:solidFill>
                        <a:effectLst/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  <a:p>
                      <a:pPr rtl="0"/>
                      <a:r>
                        <a:rPr lang="ko-KR" altLang="en-US" sz="2400" b="0" dirty="0" smtClean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급격한 </a:t>
                      </a:r>
                      <a:r>
                        <a:rPr lang="ko-KR" altLang="en-US" sz="2400" b="0" dirty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성능 저하 발생</a:t>
                      </a:r>
                      <a:r>
                        <a:rPr lang="en-US" altLang="ko-KR" sz="2400" b="0" dirty="0" smtClean="0">
                          <a:solidFill>
                            <a:srgbClr val="1F1F1F"/>
                          </a:solidFill>
                          <a:effectLst/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369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07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E6A7-87FE-4840-2632-37319213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82731-B8C2-BC1A-81B1-22632CDE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실험 결과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B646DD-3871-1B80-2DCF-13FC69B176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 smtClean="0"/>
              <a:t>CPU vs Naïve vs Flash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C7B68F-818E-6FD3-DFE3-4C2F96E50269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430C9EA3-2D5B-5FAF-EB3A-76E56511D4CC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12192000" y="4059302"/>
            <a:ext cx="11530642" cy="8428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altLang="ko-KR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HEAD_DIM</a:t>
            </a:r>
            <a:r>
              <a:rPr lang="ko-KR" altLang="en-US" sz="4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= 128, TILE_SIZE = 64</a:t>
            </a:r>
            <a:r>
              <a:rPr lang="ko-KR" altLang="en-US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 경우</a:t>
            </a:r>
            <a:endParaRPr lang="en-US" altLang="ko-KR" sz="44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hangingPunct="1"/>
            <a:endParaRPr lang="en-US" altLang="ko-KR" sz="44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hangingPunct="1"/>
            <a:r>
              <a:rPr lang="en-US" altLang="ko-KR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GPU</a:t>
            </a:r>
            <a:r>
              <a:rPr lang="ko-KR" altLang="en-US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 </a:t>
            </a:r>
            <a:r>
              <a:rPr lang="en-US" altLang="ko-KR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CPU </a:t>
            </a:r>
            <a:r>
              <a:rPr lang="ko-KR" altLang="en-US" sz="4400" dirty="0" smtClean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검증 계산 값과 차이 ↑</a:t>
            </a:r>
            <a:endParaRPr lang="en-US" altLang="ko-KR" sz="44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hangingPunct="1"/>
            <a:endParaRPr lang="en-US" altLang="ko-KR" sz="4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hangingPunct="1"/>
            <a:r>
              <a:rPr lang="ko-KR" altLang="en-US" sz="4400" u="sng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원인</a:t>
            </a:r>
            <a:endParaRPr lang="en-US" altLang="ko-KR" sz="4400" u="sng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hangingPunct="1"/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레지스터 한도 초과 → </a:t>
            </a:r>
            <a:r>
              <a:rPr lang="en-US" altLang="ko-KR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VRAM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과 데이터 </a:t>
            </a:r>
            <a:r>
              <a:rPr lang="en-US" altLang="ko-KR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I/O</a:t>
            </a:r>
            <a:r>
              <a:rPr lang="ko-KR" altLang="en-US" sz="44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↑ </a:t>
            </a:r>
            <a:endParaRPr lang="en-US" altLang="ko-KR" sz="4400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hangingPunct="1"/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→ 부동소수점 정밀도 오차 ↑</a:t>
            </a:r>
            <a:endParaRPr lang="en-US" altLang="ko-KR" sz="4400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hangingPunct="1"/>
            <a:endParaRPr lang="en-US" altLang="ko-KR" sz="44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hangingPunct="1"/>
            <a:endParaRPr lang="en-US" altLang="ko-KR" sz="4400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309354" y="12487406"/>
            <a:ext cx="14942147" cy="131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endParaRPr lang="en-US" altLang="ko-KR" sz="44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843429"/>
              </p:ext>
            </p:extLst>
          </p:nvPr>
        </p:nvGraphicFramePr>
        <p:xfrm>
          <a:off x="1206500" y="4248150"/>
          <a:ext cx="9421074" cy="3266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0179">
                  <a:extLst>
                    <a:ext uri="{9D8B030D-6E8A-4147-A177-3AD203B41FA5}">
                      <a16:colId xmlns:a16="http://schemas.microsoft.com/office/drawing/2014/main" val="1318341743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2196926087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1033398030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2942138801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3264891370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1281090279"/>
                    </a:ext>
                  </a:extLst>
                </a:gridCol>
              </a:tblGrid>
              <a:tr h="81661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</a:t>
                      </a:r>
                    </a:p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MATRIX</a:t>
                      </a:r>
                    </a:p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HEAD_DIM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TILE_SIZE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 Naive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 Flash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3490772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r>
                        <a:rPr lang="en-US" altLang="ko-KR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</a:t>
                      </a:r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1MB</a:t>
                      </a:r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  <a:endParaRPr lang="en-US" altLang="ko-KR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8132474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1024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4MB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ko-KR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"/>
                        </a:rPr>
                        <a:t>128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358209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8192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256MB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ko-KR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"/>
                        </a:rPr>
                        <a:t>128</a:t>
                      </a:r>
                      <a:endParaRPr lang="en-US" altLang="ko-KR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6766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91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E6A7-87FE-4840-2632-37319213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82731-B8C2-BC1A-81B1-22632CDE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실험 결과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B646DD-3871-1B80-2DCF-13FC69B176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 smtClean="0"/>
              <a:t>CPU vs Naïve vs Flash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C7B68F-818E-6FD3-DFE3-4C2F96E50269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430C9EA3-2D5B-5FAF-EB3A-76E56511D4CC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12192000" y="4059302"/>
            <a:ext cx="11530642" cy="8428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ko-KR" altLang="en-US" sz="4400" u="sng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분석</a:t>
            </a:r>
            <a:endParaRPr lang="en-US" altLang="ko-KR" sz="4400" u="sng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hangingPunct="1"/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타일 크기 ↑</a:t>
            </a:r>
            <a:endParaRPr lang="en-US" altLang="ko-KR" sz="4400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hangingPunct="1"/>
            <a:r>
              <a:rPr lang="en-US" altLang="ko-KR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&gt; Shared Memory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에 </a:t>
            </a:r>
            <a:r>
              <a:rPr lang="ko-KR" altLang="en-US" sz="4400" dirty="0" err="1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로드된</a:t>
            </a:r>
            <a:r>
              <a:rPr lang="ko-KR" altLang="en-US" sz="44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데이터를 더 많은 연산에 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재활용</a:t>
            </a:r>
            <a:endParaRPr lang="en-US" altLang="ko-KR" sz="4400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hangingPunct="1"/>
            <a:r>
              <a:rPr lang="en-US" altLang="ko-KR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&gt; 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글로벌 </a:t>
            </a:r>
            <a:r>
              <a:rPr lang="ko-KR" altLang="en-US" sz="44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메모리 접근 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빈도 ↓</a:t>
            </a:r>
            <a:endParaRPr lang="en-US" altLang="ko-KR" sz="44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hangingPunct="1"/>
            <a:endParaRPr lang="en-US" altLang="ko-KR" sz="4400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309354" y="12487406"/>
            <a:ext cx="14942147" cy="131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endParaRPr lang="en-US" altLang="ko-KR" sz="44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852473"/>
              </p:ext>
            </p:extLst>
          </p:nvPr>
        </p:nvGraphicFramePr>
        <p:xfrm>
          <a:off x="801059" y="3683000"/>
          <a:ext cx="10991253" cy="57162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0179">
                  <a:extLst>
                    <a:ext uri="{9D8B030D-6E8A-4147-A177-3AD203B41FA5}">
                      <a16:colId xmlns:a16="http://schemas.microsoft.com/office/drawing/2014/main" val="1695513163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2657640233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2880012082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477839878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1977471857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1686367583"/>
                    </a:ext>
                  </a:extLst>
                </a:gridCol>
                <a:gridCol w="1570179">
                  <a:extLst>
                    <a:ext uri="{9D8B030D-6E8A-4147-A177-3AD203B41FA5}">
                      <a16:colId xmlns:a16="http://schemas.microsoft.com/office/drawing/2014/main" val="4070897323"/>
                    </a:ext>
                  </a:extLst>
                </a:gridCol>
              </a:tblGrid>
              <a:tr h="81661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</a:t>
                      </a:r>
                    </a:p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MATRIX</a:t>
                      </a:r>
                    </a:p>
                    <a:p>
                      <a:r>
                        <a:rPr lang="en-US" sz="20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HEAD_DIM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TILE_SIZE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 Naive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 Flash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D7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93967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1MB</a:t>
                      </a:r>
                      <a:endParaRPr lang="en-US" altLang="ko-KR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35.38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72.44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D7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726560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47.19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85.81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D7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847911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33.92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60.82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D7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15571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altLang="ko-KR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69.21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55.53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D7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402162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56.32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D7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364971"/>
                  </a:ext>
                </a:extLst>
              </a:tr>
              <a:tr h="816610"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67.84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57.14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D7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482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89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E6A7-87FE-4840-2632-37319213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82731-B8C2-BC1A-81B1-22632CDE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결론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B646DD-3871-1B80-2DCF-13FC69B176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C7B68F-818E-6FD3-DFE3-4C2F96E50269}"/>
              </a:ext>
            </a:extLst>
          </p:cNvPr>
          <p:cNvSpPr/>
          <p:nvPr/>
        </p:nvSpPr>
        <p:spPr>
          <a:xfrm>
            <a:off x="-3847050" y="5581650"/>
            <a:ext cx="1872343" cy="1364343"/>
          </a:xfrm>
          <a:prstGeom prst="rect">
            <a:avLst/>
          </a:prstGeom>
          <a:noFill/>
          <a:ln w="1143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430C9EA3-2D5B-5FAF-EB3A-76E56511D4CC}"/>
              </a:ext>
            </a:extLst>
          </p:cNvPr>
          <p:cNvCxnSpPr>
            <a:cxnSpLocks/>
          </p:cNvCxnSpPr>
          <p:nvPr/>
        </p:nvCxnSpPr>
        <p:spPr>
          <a:xfrm flipV="1">
            <a:off x="-4569680" y="2118992"/>
            <a:ext cx="1658801" cy="1188720"/>
          </a:xfrm>
          <a:prstGeom prst="bentConnector3">
            <a:avLst>
              <a:gd name="adj1" fmla="val 67801"/>
            </a:avLst>
          </a:prstGeom>
          <a:noFill/>
          <a:ln w="53975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309354" y="12487406"/>
            <a:ext cx="14942147" cy="131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endParaRPr lang="en-US" altLang="ko-KR" sz="4400" dirty="0" smtClean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타원 3"/>
          <p:cNvSpPr>
            <a:spLocks noChangeAspect="1"/>
          </p:cNvSpPr>
          <p:nvPr/>
        </p:nvSpPr>
        <p:spPr>
          <a:xfrm>
            <a:off x="4472206" y="4490269"/>
            <a:ext cx="5099389" cy="5099389"/>
          </a:xfrm>
          <a:prstGeom prst="ellipse">
            <a:avLst/>
          </a:prstGeom>
          <a:solidFill>
            <a:srgbClr val="00B05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I/O Awareness</a:t>
            </a: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타원 10"/>
          <p:cNvSpPr>
            <a:spLocks noChangeAspect="1"/>
          </p:cNvSpPr>
          <p:nvPr/>
        </p:nvSpPr>
        <p:spPr>
          <a:xfrm>
            <a:off x="15251501" y="4490269"/>
            <a:ext cx="5099389" cy="5099389"/>
          </a:xfrm>
          <a:prstGeom prst="ellipse">
            <a:avLst/>
          </a:prstGeom>
          <a:solidFill>
            <a:srgbClr val="00B05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Hardware Constraints</a:t>
            </a: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3477789" y="9987196"/>
            <a:ext cx="7088221" cy="2500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en-US" altLang="ko-KR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GPU 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구조를 고려한 하드웨어 최적화의 중요성</a:t>
            </a:r>
            <a:endParaRPr lang="en-US" altLang="ko-KR" sz="4400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49F29991-BC2B-0931-31F8-206BB08299C2}"/>
              </a:ext>
            </a:extLst>
          </p:cNvPr>
          <p:cNvSpPr txBox="1">
            <a:spLocks/>
          </p:cNvSpPr>
          <p:nvPr/>
        </p:nvSpPr>
        <p:spPr>
          <a:xfrm>
            <a:off x="13340987" y="9987196"/>
            <a:ext cx="8920416" cy="2500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0" i="0" u="none" strike="noStrike" cap="none" spc="-5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하드웨어 최적화를 위해 보유한 </a:t>
            </a:r>
            <a:r>
              <a:rPr lang="en-US" altLang="ko-KR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GPU</a:t>
            </a:r>
            <a:r>
              <a:rPr lang="ko-KR" altLang="en-US" sz="4400" dirty="0" smtClean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의 사양에 따른 미세한 튜닝 필요</a:t>
            </a:r>
            <a:endParaRPr lang="en-US" altLang="ko-KR" sz="4400" dirty="0" smtClean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174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5E5E5E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14617</TotalTime>
  <Words>2850</Words>
  <Application>Microsoft Office PowerPoint</Application>
  <PresentationFormat>사용자 지정</PresentationFormat>
  <Paragraphs>493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30" baseType="lpstr">
      <vt:lpstr>Helvetica Neue</vt:lpstr>
      <vt:lpstr>Helvetica Neue Medium</vt:lpstr>
      <vt:lpstr>Pretendard ExtraLight</vt:lpstr>
      <vt:lpstr>Pretendard Light</vt:lpstr>
      <vt:lpstr>Pretendard Medium</vt:lpstr>
      <vt:lpstr>Pretendard SemiBold</vt:lpstr>
      <vt:lpstr>Pretendard Variable SemiBold</vt:lpstr>
      <vt:lpstr>돋움체</vt:lpstr>
      <vt:lpstr>맑은 고딕</vt:lpstr>
      <vt:lpstr>Arial</vt:lpstr>
      <vt:lpstr>Cambria Math</vt:lpstr>
      <vt:lpstr>Times New Roman</vt:lpstr>
      <vt:lpstr>30_BasicColor</vt:lpstr>
      <vt:lpstr>GPU 가속을 통한 Attention 최적화</vt:lpstr>
      <vt:lpstr>Contents</vt:lpstr>
      <vt:lpstr>Introduction</vt:lpstr>
      <vt:lpstr>서론</vt:lpstr>
      <vt:lpstr>서론</vt:lpstr>
      <vt:lpstr>이론적 배경</vt:lpstr>
      <vt:lpstr>이론적 배경</vt:lpstr>
      <vt:lpstr>Kernel 구현</vt:lpstr>
      <vt:lpstr>Kernel 구현</vt:lpstr>
      <vt:lpstr>Kernel 구현</vt:lpstr>
      <vt:lpstr>Kernel 구현</vt:lpstr>
      <vt:lpstr>실험 결과</vt:lpstr>
      <vt:lpstr>실험 결과</vt:lpstr>
      <vt:lpstr>실험 결과</vt:lpstr>
      <vt:lpstr>실험 결과</vt:lpstr>
      <vt:lpstr>실험 결과</vt:lpstr>
      <vt:lpstr>결론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the  Survivors of the Titanic</dc:title>
  <cp:lastModifiedBy>HYU</cp:lastModifiedBy>
  <cp:revision>1373</cp:revision>
  <dcterms:modified xsi:type="dcterms:W3CDTF">2026-01-16T01:56:47Z</dcterms:modified>
</cp:coreProperties>
</file>